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abre explicando que RMC Inventory centraliza inventario, compras, proyectos y reportes. Menciona que las pantallas estan en ingles para la audiencia, pero el flujo operativo es el mismo que usas en espanol.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antes de entrar a pantallas, explica el alcance. La idea clave es que el sistema cubre el ciclo completo del material: catalogo, compra, recepcion, ubicacion, despacho y reporte.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senala primero la barra lateral. Di que cada modulo se abre desde ahi. Luego explica que el encabezado muestra la pagina actual y permite cambiar idioma o tema. Termina indicando que todo el trabajo ocurre en el area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presenta el Dashboard como el punto de arranque diario. Explica que aqui ves indicadores, stock bajo, proyectos activos y costos. Enfatiza que sirve para decidir que atender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Products es el catalogo maestro. Primero se busca el material, despues se revisa stock minimo y actual, y finalmente se edita o se crea si hace falta. Remarca que el codigo unico evita duplicados.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Warehouses representa el lugar fisico del inventario. El usuario debe saber en que almacen, rack y estante esta cada material antes de despachar o mover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Projects es el puente entre la demanda del cliente y los materiales. El avance se mide comparando lo planificado contra lo despachado.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primero se crea la compra, luego se reciben los materiales, y finalmente se decide si se guardan en almacen o se mandan directo a un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Reports es para gerencia y seguimiento. No es solo una lista de datos; ayuda a ver salud de inventario, compras abiertas, avance y riesgos.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Settings es administracion. Menciona datos de prueba, importacion inicial, plantillas y visor de documentos. Aclara que limpiar la base se usa con cuidado.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recorre de izquierda a derecha: configurar, comprar, recibir, acomodar, despachar y reportar. Este es el orden que debes recordar durante la presentacion.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 para exponer: cierra con estas reglas como checklist. Lo mas importante es mantener codigos unicos, ubicacion correcta, estados actualizados y reportes periodicos.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0D26D81-16E6-4E7C-9AF4-EE14C11B0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33BB061-7C37-415C-902C-C623371B0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B81E350-5FBC-4355-A7DC-BEB8D1B724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CA89928-6D22-461A-A160-4F9CD15C46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CE928D-CB10-4DB9-A155-40AC91298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86357D-880A-488E-A57B-E72D66EB2F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1DC74C-35CD-4562-9025-D8F8F31C0C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60BE3-DFB3-4966-93DF-AAACADB628D7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564917"/>
            <a:ext cx="1809750" cy="4417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7DE189-5BE1-42F7-832B-AD71BF1D211A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457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5E54"/>
                </a:solidFill>
              </a:defRPr>
            </a:pPr>
            <a:r>
              <a:rPr sz="1350" b="1">
                <a:solidFill>
                  <a:srgbClr val="005E54"/>
                </a:solidFill>
              </a:rPr>
              <a:t>User guide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EDF656-85BD-4813-B461-F57639570258}"/>
              </a:ext>
            </a:extLst>
          </p:cNvPr>
          <p:cNvSpPr>
            <a:spLocks noGrp="1"/>
          </p:cNvSpPr>
          <p:nvPr/>
        </p:nvSpPr>
        <p:spPr>
          <a:xfrm>
            <a:off x="533400" y="1866900"/>
            <a:ext cx="495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RMC Inventory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287A5A-1948-477F-AA81-F0F26D8CCBE2}"/>
              </a:ext>
            </a:extLst>
          </p:cNvPr>
          <p:cNvSpPr>
            <a:spLocks noGrp="1"/>
          </p:cNvSpPr>
          <p:nvPr/>
        </p:nvSpPr>
        <p:spPr>
          <a:xfrm>
            <a:off x="571500" y="2686050"/>
            <a:ext cx="4476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A practical guide to operate inventory, purchases, projects, receiving, reports, and settings.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124DC0D-88F0-485B-857C-09C3CABE7C50}"/>
              </a:ext>
            </a:extLst>
          </p:cNvPr>
          <p:cNvSpPr>
            <a:spLocks noGrp="1"/>
          </p:cNvSpPr>
          <p:nvPr/>
        </p:nvSpPr>
        <p:spPr>
          <a:xfrm>
            <a:off x="552450" y="4000500"/>
            <a:ext cx="40386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F2CAC9-FE09-437A-B01C-95E5D0554623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Operational manual</a:t>
            </a:r>
          </a:p>
          <a:p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April 2026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EE95C9-2A51-45EE-B5F2-3ED32A4B5D66}"/>
              </a:ext>
            </a:extLst>
          </p:cNvPr>
          <p:cNvSpPr>
            <a:spLocks noGrp="1"/>
          </p:cNvSpPr>
          <p:nvPr/>
        </p:nvSpPr>
        <p:spPr>
          <a:xfrm>
            <a:off x="5734050" y="876300"/>
            <a:ext cx="5829300" cy="4743450"/>
          </a:xfrm>
          <a:prstGeom prst="roundRect">
            <a:avLst>
              <a:gd name="adj" fmla="val 1606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A1273E-8B30-4936-9A85-313A2FDF87E6}"/>
              </a:ext>
            </a:extLst>
          </p:cNvPr>
          <p:cNvSpPr>
            <a:spLocks noGrp="1"/>
          </p:cNvSpPr>
          <p:nvPr/>
        </p:nvSpPr>
        <p:spPr>
          <a:xfrm>
            <a:off x="5657850" y="781050"/>
            <a:ext cx="5829300" cy="4743450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72150" y="1307306"/>
            <a:ext cx="5600700" cy="350043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6673BD1-7AB5-40A6-A110-9CB210114F0B}"/>
              </a:ext>
            </a:extLst>
          </p:cNvPr>
          <p:cNvSpPr>
            <a:spLocks noGrp="1"/>
          </p:cNvSpPr>
          <p:nvPr/>
        </p:nvSpPr>
        <p:spPr>
          <a:xfrm>
            <a:off x="5810250" y="5257800"/>
            <a:ext cx="552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Screenshot: Dashboard home view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DE3EDE-C26F-48BA-A9FB-35656C397399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1657350" cy="323850"/>
          </a:xfrm>
          <a:prstGeom prst="roundRect">
            <a:avLst>
              <a:gd name="adj" fmla="val 23529"/>
            </a:avLst>
          </a:prstGeom>
          <a:solidFill>
            <a:srgbClr val="005E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7C9111-30D7-4B24-9584-5450830D70AC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Operations guide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32E51AD-0B3B-47AE-A77C-4D76B7659C38}"/>
              </a:ext>
            </a:extLst>
          </p:cNvPr>
          <p:cNvSpPr>
            <a:spLocks noGrp="1"/>
          </p:cNvSpPr>
          <p:nvPr/>
        </p:nvSpPr>
        <p:spPr>
          <a:xfrm>
            <a:off x="2343150" y="5219700"/>
            <a:ext cx="1600200" cy="323850"/>
          </a:xfrm>
          <a:prstGeom prst="roundRect">
            <a:avLst>
              <a:gd name="adj" fmla="val 23529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6FC7D3-B3A9-4406-AE1E-CC0D2B2C2196}"/>
              </a:ext>
            </a:extLst>
          </p:cNvPr>
          <p:cNvSpPr>
            <a:spLocks noGrp="1"/>
          </p:cNvSpPr>
          <p:nvPr/>
        </p:nvSpPr>
        <p:spPr>
          <a:xfrm>
            <a:off x="2457450" y="529590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Real screenshots</a:t>
            </a:r>
          </a:p>
        </p:txBody>
      </p:sp>
    </p:spTree>
    <p:extLst>
      <p:ext uri="{BB962C8B-B14F-4D97-AF65-F5344CB8AC3E}">
        <p14:creationId xmlns:p14="http://schemas.microsoft.com/office/powerpoint/2010/main" val="745634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46954E-FDAD-4108-AADA-EB261C053C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A48119-B464-4A0F-BE19-6460050092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C0EDF-677B-431A-B36C-69F4E4E2AE04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A3B23A-ABEF-4003-922C-FACC51386B30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10C09-48B4-4EB2-9038-08AB50248779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930D53-31B6-4962-B0D9-34E2B60C0930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02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7BCF2A-9FE2-4D3E-B616-6F38A3450A5B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1B87E-98AD-460E-99C9-6956140A6ACF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What the system covers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5FE480-C2AD-438C-991A-9FD18A6C9F6A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600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RMC Inventory centralizes daily warehouse operations and connects stock with purchases and projects.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4D7FC6-6384-4545-98A4-D1B996DFCECF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33909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279340-48A6-4E06-A053-4081AB909B6E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57150" cy="1162050"/>
          </a:xfrm>
          <a:prstGeom prst="rect">
            <a:avLst/>
          </a:prstGeom>
          <a:solidFill>
            <a:srgbClr val="00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C2BF4B-2883-48F3-9F85-3103A5E30B58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D205C4-91CD-453C-83EC-57B63E5C6746}"/>
              </a:ext>
            </a:extLst>
          </p:cNvPr>
          <p:cNvSpPr>
            <a:spLocks noGrp="1"/>
          </p:cNvSpPr>
          <p:nvPr/>
        </p:nvSpPr>
        <p:spPr>
          <a:xfrm>
            <a:off x="762000" y="281940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Product catalog, families, minimum stock, pricing, and physical location.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C1FFB66-EC8B-4B4F-8AD2-3CEA1ACC87BA}"/>
              </a:ext>
            </a:extLst>
          </p:cNvPr>
          <p:cNvSpPr>
            <a:spLocks noGrp="1"/>
          </p:cNvSpPr>
          <p:nvPr/>
        </p:nvSpPr>
        <p:spPr>
          <a:xfrm>
            <a:off x="4286250" y="2305050"/>
            <a:ext cx="33909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2084C7-EA91-4D42-A4F6-A1C8FFF44D82}"/>
              </a:ext>
            </a:extLst>
          </p:cNvPr>
          <p:cNvSpPr>
            <a:spLocks noGrp="1"/>
          </p:cNvSpPr>
          <p:nvPr/>
        </p:nvSpPr>
        <p:spPr>
          <a:xfrm>
            <a:off x="4286250" y="2305050"/>
            <a:ext cx="57150" cy="1162050"/>
          </a:xfrm>
          <a:prstGeom prst="rect">
            <a:avLst/>
          </a:prstGeom>
          <a:solidFill>
            <a:srgbClr val="F4B7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BBD16C-BD59-4B3F-8E81-0BE5B9421C5B}"/>
              </a:ext>
            </a:extLst>
          </p:cNvPr>
          <p:cNvSpPr>
            <a:spLocks noGrp="1"/>
          </p:cNvSpPr>
          <p:nvPr/>
        </p:nvSpPr>
        <p:spPr>
          <a:xfrm>
            <a:off x="4495800" y="249555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Purchases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F15F3E-40DB-4F98-8003-48CB4A91A6A1}"/>
              </a:ext>
            </a:extLst>
          </p:cNvPr>
          <p:cNvSpPr>
            <a:spLocks noGrp="1"/>
          </p:cNvSpPr>
          <p:nvPr/>
        </p:nvSpPr>
        <p:spPr>
          <a:xfrm>
            <a:off x="4495800" y="281940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Supplier orders, line items, statuses, and attached documents.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83DC3A-0CDA-43D9-948B-FF9DD142DB72}"/>
              </a:ext>
            </a:extLst>
          </p:cNvPr>
          <p:cNvSpPr>
            <a:spLocks noGrp="1"/>
          </p:cNvSpPr>
          <p:nvPr/>
        </p:nvSpPr>
        <p:spPr>
          <a:xfrm>
            <a:off x="8020050" y="2305050"/>
            <a:ext cx="33909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EAC24D-AAE4-4E8A-A0AB-D68A79B4987F}"/>
              </a:ext>
            </a:extLst>
          </p:cNvPr>
          <p:cNvSpPr>
            <a:spLocks noGrp="1"/>
          </p:cNvSpPr>
          <p:nvPr/>
        </p:nvSpPr>
        <p:spPr>
          <a:xfrm>
            <a:off x="8020050" y="2305050"/>
            <a:ext cx="57150" cy="1162050"/>
          </a:xfrm>
          <a:prstGeom prst="rect">
            <a:avLst/>
          </a:prstGeom>
          <a:solidFill>
            <a:srgbClr val="3BB7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B66728-285D-484E-8A1C-3D10447E48E2}"/>
              </a:ext>
            </a:extLst>
          </p:cNvPr>
          <p:cNvSpPr>
            <a:spLocks noGrp="1"/>
          </p:cNvSpPr>
          <p:nvPr/>
        </p:nvSpPr>
        <p:spPr>
          <a:xfrm>
            <a:off x="8229600" y="249555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Projects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CB72B3-508F-4C21-B7C5-6A4C118BE3A5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Budget, client, required materials, progress, and dispatches.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27B9AFC-2A4D-4AE5-99E6-21838144E0B9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33909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AA3993-9D31-4220-88BF-C9DDD2D915F6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57150" cy="1162050"/>
          </a:xfrm>
          <a:prstGeom prst="rect">
            <a:avLst/>
          </a:prstGeom>
          <a:solidFill>
            <a:srgbClr val="F36B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501A81-B822-461D-B009-FFC11128912F}"/>
              </a:ext>
            </a:extLst>
          </p:cNvPr>
          <p:cNvSpPr>
            <a:spLocks noGrp="1"/>
          </p:cNvSpPr>
          <p:nvPr/>
        </p:nvSpPr>
        <p:spPr>
          <a:xfrm>
            <a:off x="762000" y="396240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Receiving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663D8C-DD54-41E3-88C4-2024882122BA}"/>
              </a:ext>
            </a:extLst>
          </p:cNvPr>
          <p:cNvSpPr>
            <a:spLocks noGrp="1"/>
          </p:cNvSpPr>
          <p:nvPr/>
        </p:nvSpPr>
        <p:spPr>
          <a:xfrm>
            <a:off x="762000" y="428625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Material intake from purchases or returns, then placement on shelves.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F6824BE-846C-43D1-9687-30A775711C93}"/>
              </a:ext>
            </a:extLst>
          </p:cNvPr>
          <p:cNvSpPr>
            <a:spLocks noGrp="1"/>
          </p:cNvSpPr>
          <p:nvPr/>
        </p:nvSpPr>
        <p:spPr>
          <a:xfrm>
            <a:off x="4286250" y="3771900"/>
            <a:ext cx="33909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00B467-A9EA-4B96-B705-61FA0AB7D714}"/>
              </a:ext>
            </a:extLst>
          </p:cNvPr>
          <p:cNvSpPr>
            <a:spLocks noGrp="1"/>
          </p:cNvSpPr>
          <p:nvPr/>
        </p:nvSpPr>
        <p:spPr>
          <a:xfrm>
            <a:off x="4286250" y="3771900"/>
            <a:ext cx="57150" cy="1162050"/>
          </a:xfrm>
          <a:prstGeom prst="rect">
            <a:avLst/>
          </a:prstGeom>
          <a:solidFill>
            <a:srgbClr val="005E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BDB2F2-F1CA-4833-9D20-92D581F4A117}"/>
              </a:ext>
            </a:extLst>
          </p:cNvPr>
          <p:cNvSpPr>
            <a:spLocks noGrp="1"/>
          </p:cNvSpPr>
          <p:nvPr/>
        </p:nvSpPr>
        <p:spPr>
          <a:xfrm>
            <a:off x="4495800" y="396240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Reports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5E39A0-6AD8-4D7A-A9BB-651D5B9E7006}"/>
              </a:ext>
            </a:extLst>
          </p:cNvPr>
          <p:cNvSpPr>
            <a:spLocks noGrp="1"/>
          </p:cNvSpPr>
          <p:nvPr/>
        </p:nvSpPr>
        <p:spPr>
          <a:xfrm>
            <a:off x="4495800" y="428625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Inventory, usage, purchases, projects, and operational risk indicators.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8BAAAE3-4A25-47F0-BCA6-547C1E292F44}"/>
              </a:ext>
            </a:extLst>
          </p:cNvPr>
          <p:cNvSpPr>
            <a:spLocks noGrp="1"/>
          </p:cNvSpPr>
          <p:nvPr/>
        </p:nvSpPr>
        <p:spPr>
          <a:xfrm>
            <a:off x="8020050" y="3771900"/>
            <a:ext cx="33909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188E63-E3AC-4DE9-9ACC-3922C60E17D1}"/>
              </a:ext>
            </a:extLst>
          </p:cNvPr>
          <p:cNvSpPr>
            <a:spLocks noGrp="1"/>
          </p:cNvSpPr>
          <p:nvPr/>
        </p:nvSpPr>
        <p:spPr>
          <a:xfrm>
            <a:off x="8020050" y="3771900"/>
            <a:ext cx="57150" cy="1162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A7794E-BFE7-4A88-BC59-9BBE00B526B1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Settings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03916A-A97E-4344-BD0F-E32F37FB4856}"/>
              </a:ext>
            </a:extLst>
          </p:cNvPr>
          <p:cNvSpPr>
            <a:spLocks noGrp="1"/>
          </p:cNvSpPr>
          <p:nvPr/>
        </p:nvSpPr>
        <p:spPr>
          <a:xfrm>
            <a:off x="8229600" y="4286250"/>
            <a:ext cx="3009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Sample data, bulk import, templates, and document viewer tools.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25C108A-5ED1-4AE2-843F-3AF915FF4220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706100" cy="457200"/>
          </a:xfrm>
          <a:prstGeom prst="roundRect">
            <a:avLst>
              <a:gd name="adj" fmla="val 16667"/>
            </a:avLst>
          </a:prstGeom>
          <a:solidFill>
            <a:srgbClr val="DFF5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7BE28B-F689-436E-A5B4-056B472798A2}"/>
              </a:ext>
            </a:extLst>
          </p:cNvPr>
          <p:cNvSpPr>
            <a:spLocks noGrp="1"/>
          </p:cNvSpPr>
          <p:nvPr/>
        </p:nvSpPr>
        <p:spPr>
          <a:xfrm>
            <a:off x="990600" y="5962650"/>
            <a:ext cx="1019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005E54"/>
                </a:solidFill>
              </a:defRPr>
            </a:pPr>
            <a:r>
              <a:rPr sz="975" b="1">
                <a:solidFill>
                  <a:srgbClr val="005E54"/>
                </a:solidFill>
              </a:rPr>
              <a:t>Expected result: one source of truth for what is available, where it is, what must be purchased, and what was dispatched to each project.</a:t>
            </a:r>
          </a:p>
        </p:txBody>
      </p:sp>
    </p:spTree>
    <p:extLst>
      <p:ext uri="{BB962C8B-B14F-4D97-AF65-F5344CB8AC3E}">
        <p14:creationId xmlns:p14="http://schemas.microsoft.com/office/powerpoint/2010/main" val="16340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ACDE1D-FC92-4B57-B0DA-32DE9ED65B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6CB8D4-653D-4E97-94CF-66C4C52EE5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75A1BF-27C7-4603-87EB-B250EE9D1645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149730-3B89-42A5-8B41-E4F07024546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E54674-C4AD-4A88-8DA2-694BDDB8A6A2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NAVIGATION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2A80CE-2520-41D2-9B77-543A9AF5C111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03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90A989-59B5-4BF0-BD5D-0164AD7E7DDF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61C24A-8D58-4FE9-A0B0-428F0B1ABF99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3429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239" lnSpcReduction="10000"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How to move through the app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BCEB79-5A08-41E0-8CEE-B0A9B0AEB55E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361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The sidebar organizes work areas; the header keeps language and theme controls.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6CA557-E58A-4EF2-9F67-2FBE663CC290}"/>
              </a:ext>
            </a:extLst>
          </p:cNvPr>
          <p:cNvSpPr>
            <a:spLocks noGrp="1"/>
          </p:cNvSpPr>
          <p:nvPr/>
        </p:nvSpPr>
        <p:spPr>
          <a:xfrm>
            <a:off x="4438650" y="1009650"/>
            <a:ext cx="7010400" cy="4876800"/>
          </a:xfrm>
          <a:prstGeom prst="roundRect">
            <a:avLst>
              <a:gd name="adj" fmla="val 1563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2924FE-98D7-403C-8C50-98F6BBFE42A3}"/>
              </a:ext>
            </a:extLst>
          </p:cNvPr>
          <p:cNvSpPr>
            <a:spLocks noGrp="1"/>
          </p:cNvSpPr>
          <p:nvPr/>
        </p:nvSpPr>
        <p:spPr>
          <a:xfrm>
            <a:off x="4362450" y="914400"/>
            <a:ext cx="7010400" cy="48768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76750" y="1138238"/>
            <a:ext cx="6781800" cy="42386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34A7485-B625-498E-95D2-6E03F94D5DE1}"/>
              </a:ext>
            </a:extLst>
          </p:cNvPr>
          <p:cNvSpPr>
            <a:spLocks noGrp="1"/>
          </p:cNvSpPr>
          <p:nvPr/>
        </p:nvSpPr>
        <p:spPr>
          <a:xfrm>
            <a:off x="4514850" y="5524500"/>
            <a:ext cx="6705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Screenshot: main navigation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66E6161-6854-46AA-ABB7-BACA09769F7C}"/>
              </a:ext>
            </a:extLst>
          </p:cNvPr>
          <p:cNvSpPr>
            <a:spLocks noGrp="1"/>
          </p:cNvSpPr>
          <p:nvPr/>
        </p:nvSpPr>
        <p:spPr>
          <a:xfrm>
            <a:off x="4781550" y="1504950"/>
            <a:ext cx="304800" cy="304800"/>
          </a:xfrm>
          <a:prstGeom prst="ellipse">
            <a:avLst/>
          </a:prstGeom>
          <a:solidFill>
            <a:srgbClr val="008C7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A8FEA7-6CE6-4833-AC4E-672BE0C112E6}"/>
              </a:ext>
            </a:extLst>
          </p:cNvPr>
          <p:cNvSpPr>
            <a:spLocks noGrp="1"/>
          </p:cNvSpPr>
          <p:nvPr/>
        </p:nvSpPr>
        <p:spPr>
          <a:xfrm>
            <a:off x="4781550" y="1571625"/>
            <a:ext cx="304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C921277-0A35-4572-9D9C-6A4F863054BA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E94671-59FF-4B5A-B7BE-EA34A74407F7}"/>
              </a:ext>
            </a:extLst>
          </p:cNvPr>
          <p:cNvSpPr>
            <a:spLocks noGrp="1"/>
          </p:cNvSpPr>
          <p:nvPr/>
        </p:nvSpPr>
        <p:spPr>
          <a:xfrm>
            <a:off x="742950" y="2486025"/>
            <a:ext cx="2628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1. Module sidebar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A46D336-A7EC-4906-A19C-0D918F38BBC0}"/>
              </a:ext>
            </a:extLst>
          </p:cNvPr>
          <p:cNvSpPr>
            <a:spLocks noGrp="1"/>
          </p:cNvSpPr>
          <p:nvPr/>
        </p:nvSpPr>
        <p:spPr>
          <a:xfrm>
            <a:off x="6019800" y="1095375"/>
            <a:ext cx="304800" cy="304800"/>
          </a:xfrm>
          <a:prstGeom prst="ellipse">
            <a:avLst/>
          </a:prstGeom>
          <a:solidFill>
            <a:srgbClr val="3BB7D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4C4D56-36E8-4770-88AC-740929AE64B8}"/>
              </a:ext>
            </a:extLst>
          </p:cNvPr>
          <p:cNvSpPr>
            <a:spLocks noGrp="1"/>
          </p:cNvSpPr>
          <p:nvPr/>
        </p:nvSpPr>
        <p:spPr>
          <a:xfrm>
            <a:off x="6019800" y="1162050"/>
            <a:ext cx="304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13440B-3CFF-46A0-8427-B538B62D6A31}"/>
              </a:ext>
            </a:extLst>
          </p:cNvPr>
          <p:cNvSpPr>
            <a:spLocks noGrp="1"/>
          </p:cNvSpPr>
          <p:nvPr/>
        </p:nvSpPr>
        <p:spPr>
          <a:xfrm>
            <a:off x="628650" y="2952750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C67C4F-D2E3-4A8F-9A18-FB31E47D840D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2628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2. Active page header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04E85C0-6013-4015-958C-4DBDA3CCE396}"/>
              </a:ext>
            </a:extLst>
          </p:cNvPr>
          <p:cNvSpPr>
            <a:spLocks noGrp="1"/>
          </p:cNvSpPr>
          <p:nvPr/>
        </p:nvSpPr>
        <p:spPr>
          <a:xfrm>
            <a:off x="10725150" y="1104900"/>
            <a:ext cx="304800" cy="304800"/>
          </a:xfrm>
          <a:prstGeom prst="ellipse">
            <a:avLst/>
          </a:prstGeom>
          <a:solidFill>
            <a:srgbClr val="11111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BD762C-9C9A-4BDD-8BAC-0B07B87FD2F0}"/>
              </a:ext>
            </a:extLst>
          </p:cNvPr>
          <p:cNvSpPr>
            <a:spLocks noGrp="1"/>
          </p:cNvSpPr>
          <p:nvPr/>
        </p:nvSpPr>
        <p:spPr>
          <a:xfrm>
            <a:off x="10725150" y="1171575"/>
            <a:ext cx="304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617937-FB7B-4B91-9498-419F5035ACE8}"/>
              </a:ext>
            </a:extLst>
          </p:cNvPr>
          <p:cNvSpPr>
            <a:spLocks noGrp="1"/>
          </p:cNvSpPr>
          <p:nvPr/>
        </p:nvSpPr>
        <p:spPr>
          <a:xfrm>
            <a:off x="628650" y="3524250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55AC01-AC8A-4E91-8C66-4524629C027E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2628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3. EN / ES and theme controls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6CC8D37-21C6-42E8-B930-AEC60FBD7AC1}"/>
              </a:ext>
            </a:extLst>
          </p:cNvPr>
          <p:cNvSpPr>
            <a:spLocks noGrp="1"/>
          </p:cNvSpPr>
          <p:nvPr/>
        </p:nvSpPr>
        <p:spPr>
          <a:xfrm>
            <a:off x="6934200" y="2933700"/>
            <a:ext cx="304800" cy="304800"/>
          </a:xfrm>
          <a:prstGeom prst="ellipse">
            <a:avLst/>
          </a:prstGeom>
          <a:solidFill>
            <a:srgbClr val="F4B74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114560-70A1-440B-9B1D-E19396FC7E1F}"/>
              </a:ext>
            </a:extLst>
          </p:cNvPr>
          <p:cNvSpPr>
            <a:spLocks noGrp="1"/>
          </p:cNvSpPr>
          <p:nvPr/>
        </p:nvSpPr>
        <p:spPr>
          <a:xfrm>
            <a:off x="6934200" y="3000375"/>
            <a:ext cx="304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FCF0DAF-859D-4E71-98C1-D8CD6F7B01CA}"/>
              </a:ext>
            </a:extLst>
          </p:cNvPr>
          <p:cNvSpPr>
            <a:spLocks noGrp="1"/>
          </p:cNvSpPr>
          <p:nvPr/>
        </p:nvSpPr>
        <p:spPr>
          <a:xfrm>
            <a:off x="628650" y="4095750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0182F8-4036-4724-BD5C-3677B511E78A}"/>
              </a:ext>
            </a:extLst>
          </p:cNvPr>
          <p:cNvSpPr>
            <a:spLocks noGrp="1"/>
          </p:cNvSpPr>
          <p:nvPr/>
        </p:nvSpPr>
        <p:spPr>
          <a:xfrm>
            <a:off x="742950" y="4200525"/>
            <a:ext cx="2628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4. Main work area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96A9DE2-1089-47D3-B304-4C507516738C}"/>
              </a:ext>
            </a:extLst>
          </p:cNvPr>
          <p:cNvSpPr>
            <a:spLocks noGrp="1"/>
          </p:cNvSpPr>
          <p:nvPr/>
        </p:nvSpPr>
        <p:spPr>
          <a:xfrm>
            <a:off x="628650" y="4953000"/>
            <a:ext cx="30480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963929-2B8D-40CC-99A5-375D4F1AB996}"/>
              </a:ext>
            </a:extLst>
          </p:cNvPr>
          <p:cNvSpPr>
            <a:spLocks noGrp="1"/>
          </p:cNvSpPr>
          <p:nvPr/>
        </p:nvSpPr>
        <p:spPr>
          <a:xfrm>
            <a:off x="838200" y="5162550"/>
            <a:ext cx="2628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235" lnSpcReduction="20000"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Tip: to document a process, identify the module first and then record the specific action in the main work area.</a:t>
            </a:r>
          </a:p>
        </p:txBody>
      </p:sp>
    </p:spTree>
    <p:extLst>
      <p:ext uri="{BB962C8B-B14F-4D97-AF65-F5344CB8AC3E}">
        <p14:creationId xmlns:p14="http://schemas.microsoft.com/office/powerpoint/2010/main" val="664162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3C6413-8656-4F94-B628-E469436D62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05EF0D-925F-43AD-828A-855ABDC845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243D6B-8AAC-4651-AA3C-601AA2EF7ED4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E471DA-CE94-4103-99C5-092F17B173D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BCFB8-6680-4EB6-AD6A-46C49866271D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30DD6-9B33-401C-A6B4-054FC7A65276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04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875AEB-9D68-415A-86F8-1D9413B1EA7D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F2202-D457-4850-8A7C-075D69576140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400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Daily control 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756186-6DDF-462B-959A-6BDAB3D503B6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419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Use the Dashboard to review indicators, alerts, and recent activity before operating.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BA1079-53F3-49D1-B77A-87934C361564}"/>
              </a:ext>
            </a:extLst>
          </p:cNvPr>
          <p:cNvSpPr>
            <a:spLocks noGrp="1"/>
          </p:cNvSpPr>
          <p:nvPr/>
        </p:nvSpPr>
        <p:spPr>
          <a:xfrm>
            <a:off x="5276850" y="1085850"/>
            <a:ext cx="6153150" cy="4629150"/>
          </a:xfrm>
          <a:prstGeom prst="roundRect">
            <a:avLst>
              <a:gd name="adj" fmla="val 1646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17008D-F1ED-4426-B3FD-9D07A336D907}"/>
              </a:ext>
            </a:extLst>
          </p:cNvPr>
          <p:cNvSpPr>
            <a:spLocks noGrp="1"/>
          </p:cNvSpPr>
          <p:nvPr/>
        </p:nvSpPr>
        <p:spPr>
          <a:xfrm>
            <a:off x="5200650" y="990600"/>
            <a:ext cx="6153150" cy="462915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14950" y="1358503"/>
            <a:ext cx="5924550" cy="370284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BDA564C-AFED-4C96-AD62-F86B792ACD3A}"/>
              </a:ext>
            </a:extLst>
          </p:cNvPr>
          <p:cNvSpPr>
            <a:spLocks noGrp="1"/>
          </p:cNvSpPr>
          <p:nvPr/>
        </p:nvSpPr>
        <p:spPr>
          <a:xfrm>
            <a:off x="5353050" y="5353050"/>
            <a:ext cx="584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Screenshot: Dashboard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BD3CA5-211F-4D72-B723-1AD962E6F9C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323850" cy="323850"/>
          </a:xfrm>
          <a:prstGeom prst="ellipse">
            <a:avLst/>
          </a:prstGeom>
          <a:solidFill>
            <a:srgbClr val="00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A474AE-E267-45B2-8A2C-5A9C3D7BA2C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B98FA7-6E82-4CA8-A25F-920834838DE4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3257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Review indicators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AE8331-D59C-4FDB-A57C-19B3A756B6F2}"/>
              </a:ext>
            </a:extLst>
          </p:cNvPr>
          <p:cNvSpPr>
            <a:spLocks noGrp="1"/>
          </p:cNvSpPr>
          <p:nvPr/>
        </p:nvSpPr>
        <p:spPr>
          <a:xfrm>
            <a:off x="1143000" y="2447925"/>
            <a:ext cx="3257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Confirm total warehouses, products, active projects, and pending purchases.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9475A8-72D5-4A39-917D-8865E46C77B0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323850" cy="323850"/>
          </a:xfrm>
          <a:prstGeom prst="ellipse">
            <a:avLst/>
          </a:prstGeom>
          <a:solidFill>
            <a:srgbClr val="F36B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111E3B-831A-48AA-8960-7417565A0476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61EF18-4752-47DA-9537-27FE70DED821}"/>
              </a:ext>
            </a:extLst>
          </p:cNvPr>
          <p:cNvSpPr>
            <a:spLocks noGrp="1"/>
          </p:cNvSpPr>
          <p:nvPr/>
        </p:nvSpPr>
        <p:spPr>
          <a:xfrm>
            <a:off x="1143000" y="3048000"/>
            <a:ext cx="3257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Handle low stock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1C406A-5A62-4DD4-A488-C7213257CE12}"/>
              </a:ext>
            </a:extLst>
          </p:cNvPr>
          <p:cNvSpPr>
            <a:spLocks noGrp="1"/>
          </p:cNvSpPr>
          <p:nvPr/>
        </p:nvSpPr>
        <p:spPr>
          <a:xfrm>
            <a:off x="1143000" y="3305175"/>
            <a:ext cx="3257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Prioritize products below minimum and validate location before purchasing.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95F0CEE-2FF6-4D8D-98DD-7394F36844BE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323850" cy="323850"/>
          </a:xfrm>
          <a:prstGeom prst="ellipse">
            <a:avLst/>
          </a:prstGeom>
          <a:solidFill>
            <a:srgbClr val="3BB7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CCC7A0-4B2F-456A-812F-1552F2F66AEC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1B2462-9B3F-426A-8D36-202B06FF9D2B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3257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Monitor projects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D52355-E3BC-45DE-9671-39BDDC840A4E}"/>
              </a:ext>
            </a:extLst>
          </p:cNvPr>
          <p:cNvSpPr>
            <a:spLocks noGrp="1"/>
          </p:cNvSpPr>
          <p:nvPr/>
        </p:nvSpPr>
        <p:spPr>
          <a:xfrm>
            <a:off x="1143000" y="4162425"/>
            <a:ext cx="3257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Evaluate dispatch progress by project to anticipate missing materials.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04F4659-D10F-44EE-A879-EC65B0D643E6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323850" cy="323850"/>
          </a:xfrm>
          <a:prstGeom prst="ellipse">
            <a:avLst/>
          </a:prstGeom>
          <a:solidFill>
            <a:srgbClr val="F4B7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EC5D30-0DD1-4394-8FFC-A596E77F1044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AC0931-6A2F-4CBC-BD91-11E405466776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3257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Use material costs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779E3D-9C0F-4E74-A1DC-C19EDBB19924}"/>
              </a:ext>
            </a:extLst>
          </p:cNvPr>
          <p:cNvSpPr>
            <a:spLocks noGrp="1"/>
          </p:cNvSpPr>
          <p:nvPr/>
        </p:nvSpPr>
        <p:spPr>
          <a:xfrm>
            <a:off x="1143000" y="5019675"/>
            <a:ext cx="3257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Build a base material estimate and compare vendor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412921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E96D6B-5BC0-444A-AB2E-0315DC2C45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872C63-FF09-4B1B-AEB8-9367A79EC5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3F0724-B713-4DE7-9EC5-3CE5936D71B8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0045D-B7DD-4C60-9419-F2B26FF5546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5AB645-0C7A-4806-A7F1-829B9A6A3A31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PRODUCTS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FC64C-4283-4745-828E-920A75DED5E2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05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04979E-CE3F-44D4-B8CC-A3E6163FD858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20E98D-9DBD-495B-8061-939AABBCF300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400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Manage catalog and stock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F3AB71-E245-4479-9B86-2B24F15EA9F1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419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Search materials, review quantities, and maintain reference data.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8F32DA-8A53-4ABE-9192-4F9965270671}"/>
              </a:ext>
            </a:extLst>
          </p:cNvPr>
          <p:cNvSpPr>
            <a:spLocks noGrp="1"/>
          </p:cNvSpPr>
          <p:nvPr/>
        </p:nvSpPr>
        <p:spPr>
          <a:xfrm>
            <a:off x="4724400" y="1028700"/>
            <a:ext cx="6724650" cy="4895850"/>
          </a:xfrm>
          <a:prstGeom prst="roundRect">
            <a:avLst>
              <a:gd name="adj" fmla="val 1556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303106-B7C8-4676-972D-0D84739A81DA}"/>
              </a:ext>
            </a:extLst>
          </p:cNvPr>
          <p:cNvSpPr>
            <a:spLocks noGrp="1"/>
          </p:cNvSpPr>
          <p:nvPr/>
        </p:nvSpPr>
        <p:spPr>
          <a:xfrm>
            <a:off x="4648200" y="933450"/>
            <a:ext cx="6724650" cy="489585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256109"/>
            <a:ext cx="6496050" cy="406003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E352F7-7295-4466-BC3D-536BA7C47FD5}"/>
              </a:ext>
            </a:extLst>
          </p:cNvPr>
          <p:cNvSpPr>
            <a:spLocks noGrp="1"/>
          </p:cNvSpPr>
          <p:nvPr/>
        </p:nvSpPr>
        <p:spPr>
          <a:xfrm>
            <a:off x="4800600" y="5562600"/>
            <a:ext cx="6419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Screenshot: Products module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1B714BF-7C7E-4C22-873E-4998B4A843FA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323850" cy="323850"/>
          </a:xfrm>
          <a:prstGeom prst="ellipse">
            <a:avLst/>
          </a:prstGeom>
          <a:solidFill>
            <a:srgbClr val="00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213F31-76A1-403D-ABCE-6589617D0909}"/>
              </a:ext>
            </a:extLst>
          </p:cNvPr>
          <p:cNvSpPr>
            <a:spLocks noGrp="1"/>
          </p:cNvSpPr>
          <p:nvPr/>
        </p:nvSpPr>
        <p:spPr>
          <a:xfrm>
            <a:off x="647700" y="2286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7306AB-8E87-42AB-B3E7-48F18DA0FDC2}"/>
              </a:ext>
            </a:extLst>
          </p:cNvPr>
          <p:cNvSpPr>
            <a:spLocks noGrp="1"/>
          </p:cNvSpPr>
          <p:nvPr/>
        </p:nvSpPr>
        <p:spPr>
          <a:xfrm>
            <a:off x="1104900" y="2209800"/>
            <a:ext cx="2876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Search products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15C904-44E5-4B17-B411-A6FCDCB9F36E}"/>
              </a:ext>
            </a:extLst>
          </p:cNvPr>
          <p:cNvSpPr>
            <a:spLocks noGrp="1"/>
          </p:cNvSpPr>
          <p:nvPr/>
        </p:nvSpPr>
        <p:spPr>
          <a:xfrm>
            <a:off x="1104900" y="2466975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Filter by name, code, or family to locate the material.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F7DDAF9-78E5-4679-816F-8388F4194D66}"/>
              </a:ext>
            </a:extLst>
          </p:cNvPr>
          <p:cNvSpPr>
            <a:spLocks noGrp="1"/>
          </p:cNvSpPr>
          <p:nvPr/>
        </p:nvSpPr>
        <p:spPr>
          <a:xfrm>
            <a:off x="647700" y="3067050"/>
            <a:ext cx="323850" cy="323850"/>
          </a:xfrm>
          <a:prstGeom prst="ellipse">
            <a:avLst/>
          </a:prstGeom>
          <a:solidFill>
            <a:srgbClr val="3BB7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CB6084-AEA8-468B-BFBC-1520D0BF5E1B}"/>
              </a:ext>
            </a:extLst>
          </p:cNvPr>
          <p:cNvSpPr>
            <a:spLocks noGrp="1"/>
          </p:cNvSpPr>
          <p:nvPr/>
        </p:nvSpPr>
        <p:spPr>
          <a:xfrm>
            <a:off x="647700" y="31242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684199-0A1D-4781-BAB8-E02CCA185709}"/>
              </a:ext>
            </a:extLst>
          </p:cNvPr>
          <p:cNvSpPr>
            <a:spLocks noGrp="1"/>
          </p:cNvSpPr>
          <p:nvPr/>
        </p:nvSpPr>
        <p:spPr>
          <a:xfrm>
            <a:off x="1104900" y="3048000"/>
            <a:ext cx="2876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Validate stock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AA8B23-9D35-46CA-A52D-C7B280E95996}"/>
              </a:ext>
            </a:extLst>
          </p:cNvPr>
          <p:cNvSpPr>
            <a:spLocks noGrp="1"/>
          </p:cNvSpPr>
          <p:nvPr/>
        </p:nvSpPr>
        <p:spPr>
          <a:xfrm>
            <a:off x="1104900" y="3305175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Compare current stock, minimum stock, and unit of measure before editing or purchasing.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46FA5D9-8F02-486E-99A2-90F7504711A3}"/>
              </a:ext>
            </a:extLst>
          </p:cNvPr>
          <p:cNvSpPr>
            <a:spLocks noGrp="1"/>
          </p:cNvSpPr>
          <p:nvPr/>
        </p:nvSpPr>
        <p:spPr>
          <a:xfrm>
            <a:off x="647700" y="3905250"/>
            <a:ext cx="323850" cy="323850"/>
          </a:xfrm>
          <a:prstGeom prst="ellipse">
            <a:avLst/>
          </a:prstGeom>
          <a:solidFill>
            <a:srgbClr val="F4B7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F04E26-211C-41F8-9609-F5B568C4FA7A}"/>
              </a:ext>
            </a:extLst>
          </p:cNvPr>
          <p:cNvSpPr>
            <a:spLocks noGrp="1"/>
          </p:cNvSpPr>
          <p:nvPr/>
        </p:nvSpPr>
        <p:spPr>
          <a:xfrm>
            <a:off x="647700" y="39624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007A07-5246-4F24-9C75-1BF8C4BD6ACE}"/>
              </a:ext>
            </a:extLst>
          </p:cNvPr>
          <p:cNvSpPr>
            <a:spLocks noGrp="1"/>
          </p:cNvSpPr>
          <p:nvPr/>
        </p:nvSpPr>
        <p:spPr>
          <a:xfrm>
            <a:off x="1104900" y="3886200"/>
            <a:ext cx="2876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Create or update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C2E9AF-6E3F-4EA8-A1CC-2DA4197CC40A}"/>
              </a:ext>
            </a:extLst>
          </p:cNvPr>
          <p:cNvSpPr>
            <a:spLocks noGrp="1"/>
          </p:cNvSpPr>
          <p:nvPr/>
        </p:nvSpPr>
        <p:spPr>
          <a:xfrm>
            <a:off x="1104900" y="4143375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Use the module form to maintain family, pricing, and key data.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F1A1809-ADCD-4A79-9D56-76D2253056D0}"/>
              </a:ext>
            </a:extLst>
          </p:cNvPr>
          <p:cNvSpPr>
            <a:spLocks noGrp="1"/>
          </p:cNvSpPr>
          <p:nvPr/>
        </p:nvSpPr>
        <p:spPr>
          <a:xfrm>
            <a:off x="647700" y="5010150"/>
            <a:ext cx="3333750" cy="666750"/>
          </a:xfrm>
          <a:prstGeom prst="roundRect">
            <a:avLst>
              <a:gd name="adj" fmla="val 11429"/>
            </a:avLst>
          </a:prstGeom>
          <a:solidFill>
            <a:srgbClr val="EFFAF4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B103C7-E2EE-406B-93B2-83A55302D59F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221" lnSpcReduction="10000"/>
          </a:bodyPr>
          <a:lstStyle/>
          <a:p>
            <a:pPr algn="l">
              <a:defRPr sz="975" b="1">
                <a:solidFill>
                  <a:srgbClr val="005E54"/>
                </a:solidFill>
              </a:defRPr>
            </a:pPr>
            <a:r>
              <a:rPr sz="975" b="1">
                <a:solidFill>
                  <a:srgbClr val="005E54"/>
                </a:solidFill>
              </a:rPr>
              <a:t>Best practice: unique codes prevent duplicates and improve bulk imports from Excel.</a:t>
            </a:r>
          </a:p>
        </p:txBody>
      </p:sp>
    </p:spTree>
    <p:extLst>
      <p:ext uri="{BB962C8B-B14F-4D97-AF65-F5344CB8AC3E}">
        <p14:creationId xmlns:p14="http://schemas.microsoft.com/office/powerpoint/2010/main" val="1209453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CB2169-EB45-47CB-AED2-CED17E18ED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81F1B5-1A3B-4E60-9756-05171AF84C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21618B-26D2-49C5-9699-AFD4C68800EA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481DAC-C4AF-4C1D-A882-547BBCFF8CEF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16E33C-E3FD-4499-9D73-D83A1F731F58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WAREHOUSES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CB27B4-668F-479C-BC49-2DEB62F04C56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06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863A2-38BC-48A9-A6E5-77302536D377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1B81AE-A904-45A3-AEAB-67BD4447F2DC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400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Locate materials physically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2B849F-42F8-4735-AE00-EB7915C3128D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419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Warehouses organizes racks, shelves, and available quantities.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0A27E0-C526-48AD-9D6A-E9FA0CE17DE0}"/>
              </a:ext>
            </a:extLst>
          </p:cNvPr>
          <p:cNvSpPr>
            <a:spLocks noGrp="1"/>
          </p:cNvSpPr>
          <p:nvPr/>
        </p:nvSpPr>
        <p:spPr>
          <a:xfrm>
            <a:off x="4991100" y="1104900"/>
            <a:ext cx="6477000" cy="4648200"/>
          </a:xfrm>
          <a:prstGeom prst="roundRect">
            <a:avLst>
              <a:gd name="adj" fmla="val 1639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4D62C7-74F2-494A-85A5-F60E3BBF32E9}"/>
              </a:ext>
            </a:extLst>
          </p:cNvPr>
          <p:cNvSpPr>
            <a:spLocks noGrp="1"/>
          </p:cNvSpPr>
          <p:nvPr/>
        </p:nvSpPr>
        <p:spPr>
          <a:xfrm>
            <a:off x="4914900" y="1009650"/>
            <a:ext cx="6477000" cy="464820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29200" y="1285875"/>
            <a:ext cx="6248400" cy="39052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FC85766-5CE6-452D-AB5E-F6EE148202E7}"/>
              </a:ext>
            </a:extLst>
          </p:cNvPr>
          <p:cNvSpPr>
            <a:spLocks noGrp="1"/>
          </p:cNvSpPr>
          <p:nvPr/>
        </p:nvSpPr>
        <p:spPr>
          <a:xfrm>
            <a:off x="5067300" y="5391150"/>
            <a:ext cx="617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Screenshot: Warehouses module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AD1AFD6-01FF-449C-8802-040F34A49529}"/>
              </a:ext>
            </a:extLst>
          </p:cNvPr>
          <p:cNvSpPr>
            <a:spLocks noGrp="1"/>
          </p:cNvSpPr>
          <p:nvPr/>
        </p:nvSpPr>
        <p:spPr>
          <a:xfrm>
            <a:off x="666750" y="2171700"/>
            <a:ext cx="323850" cy="323850"/>
          </a:xfrm>
          <a:prstGeom prst="ellipse">
            <a:avLst/>
          </a:prstGeom>
          <a:solidFill>
            <a:srgbClr val="00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447D81-EAD4-411B-A5F6-3CAC66ED8077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1ABEAF-17E1-4836-AEDF-0B0DA66C922A}"/>
              </a:ext>
            </a:extLst>
          </p:cNvPr>
          <p:cNvSpPr>
            <a:spLocks noGrp="1"/>
          </p:cNvSpPr>
          <p:nvPr/>
        </p:nvSpPr>
        <p:spPr>
          <a:xfrm>
            <a:off x="1123950" y="215265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Select a warehouse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2DE622-6A6B-43DB-918F-F995FC686F23}"/>
              </a:ext>
            </a:extLst>
          </p:cNvPr>
          <p:cNvSpPr>
            <a:spLocks noGrp="1"/>
          </p:cNvSpPr>
          <p:nvPr/>
        </p:nvSpPr>
        <p:spPr>
          <a:xfrm>
            <a:off x="1123950" y="240982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Open the main location and review its structure.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E4137C-0365-4068-BD23-50BB2CD2B10A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323850" cy="323850"/>
          </a:xfrm>
          <a:prstGeom prst="ellipse">
            <a:avLst/>
          </a:prstGeom>
          <a:solidFill>
            <a:srgbClr val="3BB7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6F2805-269C-4CC0-AA3C-BB2B8587F530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0D595E-2195-40A2-A31A-E7566897B4AF}"/>
              </a:ext>
            </a:extLst>
          </p:cNvPr>
          <p:cNvSpPr>
            <a:spLocks noGrp="1"/>
          </p:cNvSpPr>
          <p:nvPr/>
        </p:nvSpPr>
        <p:spPr>
          <a:xfrm>
            <a:off x="1123950" y="299085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Explore racks and shelves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90ACC-949B-43BB-9745-4FB405616E56}"/>
              </a:ext>
            </a:extLst>
          </p:cNvPr>
          <p:cNvSpPr>
            <a:spLocks noGrp="1"/>
          </p:cNvSpPr>
          <p:nvPr/>
        </p:nvSpPr>
        <p:spPr>
          <a:xfrm>
            <a:off x="1123950" y="324802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Locate material by rack, shelf, and available quantity.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C55ABA-A2E6-4121-8EA0-20F0711BA32C}"/>
              </a:ext>
            </a:extLst>
          </p:cNvPr>
          <p:cNvSpPr>
            <a:spLocks noGrp="1"/>
          </p:cNvSpPr>
          <p:nvPr/>
        </p:nvSpPr>
        <p:spPr>
          <a:xfrm>
            <a:off x="666750" y="3848100"/>
            <a:ext cx="323850" cy="323850"/>
          </a:xfrm>
          <a:prstGeom prst="ellipse">
            <a:avLst/>
          </a:prstGeom>
          <a:solidFill>
            <a:srgbClr val="F4B7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C081C3-5CAC-4494-8EDA-580C0811F7CE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017A62-2BE4-486E-A1CC-021962D6B5C5}"/>
              </a:ext>
            </a:extLst>
          </p:cNvPr>
          <p:cNvSpPr>
            <a:spLocks noGrp="1"/>
          </p:cNvSpPr>
          <p:nvPr/>
        </p:nvSpPr>
        <p:spPr>
          <a:xfrm>
            <a:off x="1123950" y="382905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Confirm availability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56B162-BCC7-4D9D-9DA0-A4616988127B}"/>
              </a:ext>
            </a:extLst>
          </p:cNvPr>
          <p:cNvSpPr>
            <a:spLocks noGrp="1"/>
          </p:cNvSpPr>
          <p:nvPr/>
        </p:nvSpPr>
        <p:spPr>
          <a:xfrm>
            <a:off x="1123950" y="408622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Before dispatching, verify that stock is in the correct place.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D73BDA7-D7B5-44D2-A49E-1306F3C49CD7}"/>
              </a:ext>
            </a:extLst>
          </p:cNvPr>
          <p:cNvSpPr>
            <a:spLocks noGrp="1"/>
          </p:cNvSpPr>
          <p:nvPr/>
        </p:nvSpPr>
        <p:spPr>
          <a:xfrm>
            <a:off x="666750" y="4972050"/>
            <a:ext cx="34861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AEC5CB-B0A2-4DCE-9C79-98B7B92DC57B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3028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Operating rule: receiving places material; projects and transfers consume or move material from existing locations.</a:t>
            </a:r>
          </a:p>
        </p:txBody>
      </p:sp>
    </p:spTree>
    <p:extLst>
      <p:ext uri="{BB962C8B-B14F-4D97-AF65-F5344CB8AC3E}">
        <p14:creationId xmlns:p14="http://schemas.microsoft.com/office/powerpoint/2010/main" val="608653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87733E-006F-483C-82DC-429200C741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461DF3-B55B-407A-A8AC-628860D7E9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9A3A84-416C-4386-BC90-C6E0D77F4003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E1DB46-CEF9-47F6-924D-6909DF0FC2DB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CD119-07C1-499C-8BEB-DA7E0C30BD03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PROJECTS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40D9B-4E2F-4D87-8154-CAC578B826C6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07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FAE3BF-E73B-48CC-91B4-15EA206D93BA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B446A8-EA84-41D4-AB90-483C8B5D032E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400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Track jobs and materials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77B1F-036B-496F-883E-0C3279F21B4E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419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Connect client, budget, planned materials, and dispatch progress.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3CCB3D-66C9-4A8C-823A-BFEE890F4C4D}"/>
              </a:ext>
            </a:extLst>
          </p:cNvPr>
          <p:cNvSpPr>
            <a:spLocks noGrp="1"/>
          </p:cNvSpPr>
          <p:nvPr/>
        </p:nvSpPr>
        <p:spPr>
          <a:xfrm>
            <a:off x="4895850" y="1047750"/>
            <a:ext cx="6591300" cy="4762500"/>
          </a:xfrm>
          <a:prstGeom prst="roundRect">
            <a:avLst>
              <a:gd name="adj" fmla="val 1600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001417-875A-4175-9E05-339F3C26931C}"/>
              </a:ext>
            </a:extLst>
          </p:cNvPr>
          <p:cNvSpPr>
            <a:spLocks noGrp="1"/>
          </p:cNvSpPr>
          <p:nvPr/>
        </p:nvSpPr>
        <p:spPr>
          <a:xfrm>
            <a:off x="4819650" y="952500"/>
            <a:ext cx="6591300" cy="4762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33950" y="1250156"/>
            <a:ext cx="6362700" cy="397668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20EF25D-F238-4250-AE1E-E98C1BD8BA3E}"/>
              </a:ext>
            </a:extLst>
          </p:cNvPr>
          <p:cNvSpPr>
            <a:spLocks noGrp="1"/>
          </p:cNvSpPr>
          <p:nvPr/>
        </p:nvSpPr>
        <p:spPr>
          <a:xfrm>
            <a:off x="4972050" y="5448300"/>
            <a:ext cx="628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Screenshot: Projects module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5D71F5-46EE-4302-81E8-FCFDBD39F298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323850" cy="323850"/>
          </a:xfrm>
          <a:prstGeom prst="ellipse">
            <a:avLst/>
          </a:prstGeom>
          <a:solidFill>
            <a:srgbClr val="00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A90B0-278D-49DB-BD05-D6D807AC7EAD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EDE5B-40D1-4EA1-AC76-27D2721AD12C}"/>
              </a:ext>
            </a:extLst>
          </p:cNvPr>
          <p:cNvSpPr>
            <a:spLocks noGrp="1"/>
          </p:cNvSpPr>
          <p:nvPr/>
        </p:nvSpPr>
        <p:spPr>
          <a:xfrm>
            <a:off x="1123950" y="211455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Create a project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7ECCEA-2955-4A32-AAED-E09D3814E088}"/>
              </a:ext>
            </a:extLst>
          </p:cNvPr>
          <p:cNvSpPr>
            <a:spLocks noGrp="1"/>
          </p:cNvSpPr>
          <p:nvPr/>
        </p:nvSpPr>
        <p:spPr>
          <a:xfrm>
            <a:off x="1123950" y="237172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Register name, client, dates, budget, and starting status.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A83984-E420-4DE8-A627-73A9EA75643F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323850" cy="323850"/>
          </a:xfrm>
          <a:prstGeom prst="ellipse">
            <a:avLst/>
          </a:prstGeom>
          <a:solidFill>
            <a:srgbClr val="3BB7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D35B78-022D-44B3-9651-A983B99AC08F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996245-DA63-474B-A090-E22339C321B5}"/>
              </a:ext>
            </a:extLst>
          </p:cNvPr>
          <p:cNvSpPr>
            <a:spLocks noGrp="1"/>
          </p:cNvSpPr>
          <p:nvPr/>
        </p:nvSpPr>
        <p:spPr>
          <a:xfrm>
            <a:off x="1123950" y="295275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Add materials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6DE79E-7F30-4B75-BF9B-8B061D75FE64}"/>
              </a:ext>
            </a:extLst>
          </p:cNvPr>
          <p:cNvSpPr>
            <a:spLocks noGrp="1"/>
          </p:cNvSpPr>
          <p:nvPr/>
        </p:nvSpPr>
        <p:spPr>
          <a:xfrm>
            <a:off x="1123950" y="320992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Define required quantities and review pending units.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631655-17BD-496B-9361-9B047847E173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323850" cy="323850"/>
          </a:xfrm>
          <a:prstGeom prst="ellipse">
            <a:avLst/>
          </a:prstGeom>
          <a:solidFill>
            <a:srgbClr val="F4B7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6E96AE-98ED-4D58-89F8-E034C3329CBC}"/>
              </a:ext>
            </a:extLst>
          </p:cNvPr>
          <p:cNvSpPr>
            <a:spLocks noGrp="1"/>
          </p:cNvSpPr>
          <p:nvPr/>
        </p:nvSpPr>
        <p:spPr>
          <a:xfrm>
            <a:off x="666750" y="38671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1230E8-EE9F-4D60-B956-D1C9A91F62BB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Dispatch and measure progress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8A910D-FEF6-4D83-AA36-3EE7AD8EE79E}"/>
              </a:ext>
            </a:extLst>
          </p:cNvPr>
          <p:cNvSpPr>
            <a:spLocks noGrp="1"/>
          </p:cNvSpPr>
          <p:nvPr/>
        </p:nvSpPr>
        <p:spPr>
          <a:xfrm>
            <a:off x="1123950" y="404812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Progress shows dispatched units versus planned units.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5F0781-D6C5-4E83-A14F-D2263B84F990}"/>
              </a:ext>
            </a:extLst>
          </p:cNvPr>
          <p:cNvSpPr>
            <a:spLocks noGrp="1"/>
          </p:cNvSpPr>
          <p:nvPr/>
        </p:nvSpPr>
        <p:spPr>
          <a:xfrm>
            <a:off x="666750" y="4648200"/>
            <a:ext cx="323850" cy="323850"/>
          </a:xfrm>
          <a:prstGeom prst="ellipse">
            <a:avLst/>
          </a:prstGeom>
          <a:solidFill>
            <a:srgbClr val="F36B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59BF1B-6001-4CB4-A6CD-D1A4EA4A7097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1473CC-0D2D-4E62-B589-CDEDF4BDFAFB}"/>
              </a:ext>
            </a:extLst>
          </p:cNvPr>
          <p:cNvSpPr>
            <a:spLocks noGrp="1"/>
          </p:cNvSpPr>
          <p:nvPr/>
        </p:nvSpPr>
        <p:spPr>
          <a:xfrm>
            <a:off x="1123950" y="462915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Close or cancel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0465FD-2BB8-4835-B8AC-6117861C4DB8}"/>
              </a:ext>
            </a:extLst>
          </p:cNvPr>
          <p:cNvSpPr>
            <a:spLocks noGrp="1"/>
          </p:cNvSpPr>
          <p:nvPr/>
        </p:nvSpPr>
        <p:spPr>
          <a:xfrm>
            <a:off x="1123950" y="488632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Update status when the job is finished or no longer active.</a:t>
            </a:r>
          </a:p>
        </p:txBody>
      </p:sp>
    </p:spTree>
    <p:extLst>
      <p:ext uri="{BB962C8B-B14F-4D97-AF65-F5344CB8AC3E}">
        <p14:creationId xmlns:p14="http://schemas.microsoft.com/office/powerpoint/2010/main" val="1833527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DD8724-BC45-4E68-B132-32ED08116F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811AAB-C70A-468A-B8B1-5F3AB3BCB7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1DDBFD-8B75-4D63-9764-E990785E1F07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037E85-A8B7-49F7-8DCF-92E82D96158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A864F-9A97-4CD1-B506-662C97F24CD4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PURCHASES + RECEIVING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CAD974-FD27-48FE-B767-55F19BFE7A9A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08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60D65D-8581-4C5E-A8F5-7C33FEFF707A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9581F-B8E5-45AE-A7DB-23AEC2C10CCD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6096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From order to available material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389E-EB6B-4DAD-903C-6CAA9CB38D46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628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Purchases registers orders; Receiving decides whether material is stored or dispatched to a project.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FBE0E1-73A5-4173-9F18-9131584A7B15}"/>
              </a:ext>
            </a:extLst>
          </p:cNvPr>
          <p:cNvSpPr>
            <a:spLocks noGrp="1"/>
          </p:cNvSpPr>
          <p:nvPr/>
        </p:nvSpPr>
        <p:spPr>
          <a:xfrm>
            <a:off x="704850" y="2286000"/>
            <a:ext cx="5143500" cy="3219450"/>
          </a:xfrm>
          <a:prstGeom prst="roundRect">
            <a:avLst>
              <a:gd name="adj" fmla="val 2367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19A51A-7D68-4516-A14C-5A78B13E90B5}"/>
              </a:ext>
            </a:extLst>
          </p:cNvPr>
          <p:cNvSpPr>
            <a:spLocks noGrp="1"/>
          </p:cNvSpPr>
          <p:nvPr/>
        </p:nvSpPr>
        <p:spPr>
          <a:xfrm>
            <a:off x="628650" y="2190750"/>
            <a:ext cx="5143500" cy="3219450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0120" y="2305050"/>
            <a:ext cx="4480560" cy="28003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26F5CF-12C8-45F4-817E-46D44442306A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483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Screenshot: Purchases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39D22A-20E6-4C33-9542-A62BD73328F8}"/>
              </a:ext>
            </a:extLst>
          </p:cNvPr>
          <p:cNvSpPr>
            <a:spLocks noGrp="1"/>
          </p:cNvSpPr>
          <p:nvPr/>
        </p:nvSpPr>
        <p:spPr>
          <a:xfrm>
            <a:off x="6496050" y="2286000"/>
            <a:ext cx="5143500" cy="3219450"/>
          </a:xfrm>
          <a:prstGeom prst="roundRect">
            <a:avLst>
              <a:gd name="adj" fmla="val 2367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088B02E-A153-4023-AB9E-648FAD90B0FA}"/>
              </a:ext>
            </a:extLst>
          </p:cNvPr>
          <p:cNvSpPr>
            <a:spLocks noGrp="1"/>
          </p:cNvSpPr>
          <p:nvPr/>
        </p:nvSpPr>
        <p:spPr>
          <a:xfrm>
            <a:off x="6419850" y="2190750"/>
            <a:ext cx="5143500" cy="3219450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51320" y="2305050"/>
            <a:ext cx="4480560" cy="28003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BB222C5-2242-4687-82A3-C77361542081}"/>
              </a:ext>
            </a:extLst>
          </p:cNvPr>
          <p:cNvSpPr>
            <a:spLocks noGrp="1"/>
          </p:cNvSpPr>
          <p:nvPr/>
        </p:nvSpPr>
        <p:spPr>
          <a:xfrm>
            <a:off x="6572250" y="5143500"/>
            <a:ext cx="483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Screenshot: Receiving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FF380D-AE37-4510-B40E-D1C56846D1F5}"/>
              </a:ext>
            </a:extLst>
          </p:cNvPr>
          <p:cNvSpPr>
            <a:spLocks noGrp="1"/>
          </p:cNvSpPr>
          <p:nvPr/>
        </p:nvSpPr>
        <p:spPr>
          <a:xfrm>
            <a:off x="2038350" y="5676900"/>
            <a:ext cx="8096250" cy="514350"/>
          </a:xfrm>
          <a:prstGeom prst="roundRect">
            <a:avLst>
              <a:gd name="adj" fmla="val 14815"/>
            </a:avLst>
          </a:prstGeom>
          <a:solidFill>
            <a:srgbClr val="DFF5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708EC2-6578-4E6B-BA12-755B3FAB6A97}"/>
              </a:ext>
            </a:extLst>
          </p:cNvPr>
          <p:cNvSpPr>
            <a:spLocks noGrp="1"/>
          </p:cNvSpPr>
          <p:nvPr/>
        </p:nvSpPr>
        <p:spPr>
          <a:xfrm>
            <a:off x="2286000" y="5848350"/>
            <a:ext cx="762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005E54"/>
                </a:solidFill>
              </a:defRPr>
            </a:pPr>
            <a:r>
              <a:rPr sz="1050" b="1">
                <a:solidFill>
                  <a:srgbClr val="005E54"/>
                </a:solidFill>
              </a:rPr>
              <a:t>Recommended flow: New purchase -&gt; register line items -&gt; mark as received -&gt; place on shelf or dispatch to project.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2BA7A56-0839-4896-977A-DAE3BBE130BE}"/>
              </a:ext>
            </a:extLst>
          </p:cNvPr>
          <p:cNvSpPr>
            <a:spLocks noGrp="1"/>
          </p:cNvSpPr>
          <p:nvPr/>
        </p:nvSpPr>
        <p:spPr>
          <a:xfrm>
            <a:off x="1028700" y="1790700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D9B66F-B835-4F51-83E7-115E3C0D4DF8}"/>
              </a:ext>
            </a:extLst>
          </p:cNvPr>
          <p:cNvSpPr>
            <a:spLocks noGrp="1"/>
          </p:cNvSpPr>
          <p:nvPr/>
        </p:nvSpPr>
        <p:spPr>
          <a:xfrm>
            <a:off x="1143000" y="1866900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1. Purchase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D2927E4-8F8B-4B1B-9A7F-272A4FE162C2}"/>
              </a:ext>
            </a:extLst>
          </p:cNvPr>
          <p:cNvSpPr>
            <a:spLocks noGrp="1"/>
          </p:cNvSpPr>
          <p:nvPr/>
        </p:nvSpPr>
        <p:spPr>
          <a:xfrm>
            <a:off x="6819900" y="1790700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00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549646-49A7-4B3E-B738-0684F6A5C0AD}"/>
              </a:ext>
            </a:extLst>
          </p:cNvPr>
          <p:cNvSpPr>
            <a:spLocks noGrp="1"/>
          </p:cNvSpPr>
          <p:nvPr/>
        </p:nvSpPr>
        <p:spPr>
          <a:xfrm>
            <a:off x="6934200" y="1866900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2. Receive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8832832-8918-46A8-93AC-A46EE578563A}"/>
              </a:ext>
            </a:extLst>
          </p:cNvPr>
          <p:cNvSpPr>
            <a:spLocks noGrp="1"/>
          </p:cNvSpPr>
          <p:nvPr/>
        </p:nvSpPr>
        <p:spPr>
          <a:xfrm>
            <a:off x="8248650" y="179070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F4B7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10ADA7-F759-4DC1-8FC1-29813D2BD66F}"/>
              </a:ext>
            </a:extLst>
          </p:cNvPr>
          <p:cNvSpPr>
            <a:spLocks noGrp="1"/>
          </p:cNvSpPr>
          <p:nvPr/>
        </p:nvSpPr>
        <p:spPr>
          <a:xfrm>
            <a:off x="8362950" y="1866900"/>
            <a:ext cx="1866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3. Place or dispatch</a:t>
            </a:r>
          </a:p>
        </p:txBody>
      </p:sp>
    </p:spTree>
    <p:extLst>
      <p:ext uri="{BB962C8B-B14F-4D97-AF65-F5344CB8AC3E}">
        <p14:creationId xmlns:p14="http://schemas.microsoft.com/office/powerpoint/2010/main" val="1879597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407A98-8512-4628-BF43-A0A9B25FEA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5C0D74-21B6-44EF-89AB-F6FE25B169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4ADCA9-BB93-4EE7-9B89-ED744D10F180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13E84-F510-4019-8755-300C861FD2F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5C74C6-6DAE-4C01-AB6B-623A5BCFD902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REPORTS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CDF460-483A-4C0F-AB0B-6DD9CBCB5386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09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B426F5-6FA4-4DEE-82D8-99CDA9F5CE6E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87AF35-CF76-4BE2-8E5A-C0F0E3EB8BD2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400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239" lnSpcReduction="10000"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Measure inventory and operations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D6710F-2832-48EE-8DDB-17A194114525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419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Summarize inventory, purchases, dispatch progress, and risk.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A8AD3A-41C4-4E78-8778-6F7B47C2DF74}"/>
              </a:ext>
            </a:extLst>
          </p:cNvPr>
          <p:cNvSpPr>
            <a:spLocks noGrp="1"/>
          </p:cNvSpPr>
          <p:nvPr/>
        </p:nvSpPr>
        <p:spPr>
          <a:xfrm>
            <a:off x="4705350" y="1009650"/>
            <a:ext cx="6762750" cy="4876800"/>
          </a:xfrm>
          <a:prstGeom prst="roundRect">
            <a:avLst>
              <a:gd name="adj" fmla="val 1563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22A612-6695-4C9C-A956-CC27CBD9A893}"/>
              </a:ext>
            </a:extLst>
          </p:cNvPr>
          <p:cNvSpPr>
            <a:spLocks noGrp="1"/>
          </p:cNvSpPr>
          <p:nvPr/>
        </p:nvSpPr>
        <p:spPr>
          <a:xfrm>
            <a:off x="4629150" y="914400"/>
            <a:ext cx="6762750" cy="48768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43450" y="1215628"/>
            <a:ext cx="6534150" cy="408384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C792097-8558-4375-A31A-FD765AAE9DF8}"/>
              </a:ext>
            </a:extLst>
          </p:cNvPr>
          <p:cNvSpPr>
            <a:spLocks noGrp="1"/>
          </p:cNvSpPr>
          <p:nvPr/>
        </p:nvSpPr>
        <p:spPr>
          <a:xfrm>
            <a:off x="4781550" y="5524500"/>
            <a:ext cx="6457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Screenshot: Reports center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CB1FF7-77CD-431F-BB6E-223F256A3BB6}"/>
              </a:ext>
            </a:extLst>
          </p:cNvPr>
          <p:cNvSpPr>
            <a:spLocks noGrp="1"/>
          </p:cNvSpPr>
          <p:nvPr/>
        </p:nvSpPr>
        <p:spPr>
          <a:xfrm>
            <a:off x="647700" y="2133600"/>
            <a:ext cx="323850" cy="323850"/>
          </a:xfrm>
          <a:prstGeom prst="ellipse">
            <a:avLst/>
          </a:prstGeom>
          <a:solidFill>
            <a:srgbClr val="00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3FF5D5-D824-41DB-89CC-F7DCA21B232D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9FC827-D424-4BE9-A900-C94732EBF8B7}"/>
              </a:ext>
            </a:extLst>
          </p:cNvPr>
          <p:cNvSpPr>
            <a:spLocks noGrp="1"/>
          </p:cNvSpPr>
          <p:nvPr/>
        </p:nvSpPr>
        <p:spPr>
          <a:xfrm>
            <a:off x="1104900" y="2114550"/>
            <a:ext cx="2876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Choose a tab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AB539-CE1A-4AFB-992A-8C289631F0BD}"/>
              </a:ext>
            </a:extLst>
          </p:cNvPr>
          <p:cNvSpPr>
            <a:spLocks noGrp="1"/>
          </p:cNvSpPr>
          <p:nvPr/>
        </p:nvSpPr>
        <p:spPr>
          <a:xfrm>
            <a:off x="1104900" y="2371725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Switch between Inventory, Material usage, Projects, Purchases, and Risks.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5A08B0A-ABF0-47B0-9BA9-AAE48D13098D}"/>
              </a:ext>
            </a:extLst>
          </p:cNvPr>
          <p:cNvSpPr>
            <a:spLocks noGrp="1"/>
          </p:cNvSpPr>
          <p:nvPr/>
        </p:nvSpPr>
        <p:spPr>
          <a:xfrm>
            <a:off x="647700" y="2971800"/>
            <a:ext cx="323850" cy="323850"/>
          </a:xfrm>
          <a:prstGeom prst="ellipse">
            <a:avLst/>
          </a:prstGeom>
          <a:solidFill>
            <a:srgbClr val="3BB7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E0AF1-3095-49D2-B1B7-3E3C59E31235}"/>
              </a:ext>
            </a:extLst>
          </p:cNvPr>
          <p:cNvSpPr>
            <a:spLocks noGrp="1"/>
          </p:cNvSpPr>
          <p:nvPr/>
        </p:nvSpPr>
        <p:spPr>
          <a:xfrm>
            <a:off x="647700" y="30289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105D20-B84A-4043-9C82-301C1383454D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2876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Read KPIs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1582AB-9CEE-4B34-8184-279526830DBA}"/>
              </a:ext>
            </a:extLst>
          </p:cNvPr>
          <p:cNvSpPr>
            <a:spLocks noGrp="1"/>
          </p:cNvSpPr>
          <p:nvPr/>
        </p:nvSpPr>
        <p:spPr>
          <a:xfrm>
            <a:off x="1104900" y="3209925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Identify alerts and key values before opening details.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4AA95C6-75C2-4B59-820A-7A36BAC343D5}"/>
              </a:ext>
            </a:extLst>
          </p:cNvPr>
          <p:cNvSpPr>
            <a:spLocks noGrp="1"/>
          </p:cNvSpPr>
          <p:nvPr/>
        </p:nvSpPr>
        <p:spPr>
          <a:xfrm>
            <a:off x="647700" y="3810000"/>
            <a:ext cx="323850" cy="323850"/>
          </a:xfrm>
          <a:prstGeom prst="ellipse">
            <a:avLst/>
          </a:prstGeom>
          <a:solidFill>
            <a:srgbClr val="F4B7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CD13D6-EC3F-4CD3-8D4D-DA5068347B21}"/>
              </a:ext>
            </a:extLst>
          </p:cNvPr>
          <p:cNvSpPr>
            <a:spLocks noGrp="1"/>
          </p:cNvSpPr>
          <p:nvPr/>
        </p:nvSpPr>
        <p:spPr>
          <a:xfrm>
            <a:off x="647700" y="38671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F1CAE4-226C-4487-B42B-770E33C72E08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2876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Analyze charts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C36B7B-1146-4044-A6B4-BB25984055AE}"/>
              </a:ext>
            </a:extLst>
          </p:cNvPr>
          <p:cNvSpPr>
            <a:spLocks noGrp="1"/>
          </p:cNvSpPr>
          <p:nvPr/>
        </p:nvSpPr>
        <p:spPr>
          <a:xfrm>
            <a:off x="1104900" y="4048125"/>
            <a:ext cx="2876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Use monthly trends to decide purchases or stock minimum adjustments.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EBC8F3B-4F55-4014-A99A-91BD98067FE7}"/>
              </a:ext>
            </a:extLst>
          </p:cNvPr>
          <p:cNvSpPr>
            <a:spLocks noGrp="1"/>
          </p:cNvSpPr>
          <p:nvPr/>
        </p:nvSpPr>
        <p:spPr>
          <a:xfrm>
            <a:off x="647700" y="4953000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604065-21A5-4892-9335-EBB486E39F91}"/>
              </a:ext>
            </a:extLst>
          </p:cNvPr>
          <p:cNvSpPr>
            <a:spLocks noGrp="1"/>
          </p:cNvSpPr>
          <p:nvPr/>
        </p:nvSpPr>
        <p:spPr>
          <a:xfrm>
            <a:off x="857250" y="5181600"/>
            <a:ext cx="2914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523"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The Money total button opens the current financial view based on inventory, purchases, and budgets.</a:t>
            </a:r>
          </a:p>
        </p:txBody>
      </p:sp>
    </p:spTree>
    <p:extLst>
      <p:ext uri="{BB962C8B-B14F-4D97-AF65-F5344CB8AC3E}">
        <p14:creationId xmlns:p14="http://schemas.microsoft.com/office/powerpoint/2010/main" val="117599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3F7B27-6E28-4879-A360-571D0154CD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C0598C-A685-4E19-8CB9-E00DF0EDB1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84B705-3A71-416A-B7E6-B5BD56A49338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EC0306-6DC8-4A01-82B7-C67F3E211E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BAE7E7-04DD-4A68-94E4-57F48F1DCE6F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SETTINGS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06EB3F-1369-4E30-A239-F58BD9E94170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10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9F773-09EE-4A06-B2A5-8AE96E51074F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3CD5C2-EAA4-4A74-A494-42BA1476C318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400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Prepare data and templates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E7A77A-D244-4AD6-91AF-58EDC232C7F7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4191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Manage imports, controlled cleanup, templates, and the document viewer.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7A64C9-5D76-4C26-B4DC-5FA98C25052A}"/>
              </a:ext>
            </a:extLst>
          </p:cNvPr>
          <p:cNvSpPr>
            <a:spLocks noGrp="1"/>
          </p:cNvSpPr>
          <p:nvPr/>
        </p:nvSpPr>
        <p:spPr>
          <a:xfrm>
            <a:off x="4895850" y="1047750"/>
            <a:ext cx="6591300" cy="4762500"/>
          </a:xfrm>
          <a:prstGeom prst="roundRect">
            <a:avLst>
              <a:gd name="adj" fmla="val 1600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FEAB75-2586-4AAB-B435-2B6451729CDB}"/>
              </a:ext>
            </a:extLst>
          </p:cNvPr>
          <p:cNvSpPr>
            <a:spLocks noGrp="1"/>
          </p:cNvSpPr>
          <p:nvPr/>
        </p:nvSpPr>
        <p:spPr>
          <a:xfrm>
            <a:off x="4819650" y="952500"/>
            <a:ext cx="6591300" cy="4762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33950" y="1250156"/>
            <a:ext cx="6362700" cy="397668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89495B6-585E-4D31-8E0A-0054EC1188BE}"/>
              </a:ext>
            </a:extLst>
          </p:cNvPr>
          <p:cNvSpPr>
            <a:spLocks noGrp="1"/>
          </p:cNvSpPr>
          <p:nvPr/>
        </p:nvSpPr>
        <p:spPr>
          <a:xfrm>
            <a:off x="4972050" y="5448300"/>
            <a:ext cx="628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Screenshot: Settings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1858B8F-BEF5-45C8-BF11-29D36ABF6F79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323850" cy="323850"/>
          </a:xfrm>
          <a:prstGeom prst="ellipse">
            <a:avLst/>
          </a:prstGeom>
          <a:solidFill>
            <a:srgbClr val="00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13CAD-0786-4B2E-9B37-4E8D4BA0CC1F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6C9BED-8C09-4976-BE00-E45CB630D5AB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Load sample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B3FC79-CC01-43EC-8ADB-C6723B76BDFC}"/>
              </a:ext>
            </a:extLst>
          </p:cNvPr>
          <p:cNvSpPr>
            <a:spLocks noGrp="1"/>
          </p:cNvSpPr>
          <p:nvPr/>
        </p:nvSpPr>
        <p:spPr>
          <a:xfrm>
            <a:off x="1123950" y="239077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Initialize examples for demos, validation, or training.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69FE5BC-6832-4580-BC75-9FE4A08491B4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323850" cy="323850"/>
          </a:xfrm>
          <a:prstGeom prst="ellipse">
            <a:avLst/>
          </a:prstGeom>
          <a:solidFill>
            <a:srgbClr val="3BB7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85CA65-74CF-4320-82BE-D27647927257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B39BDF-639C-40F1-B582-5D654B8C356B}"/>
              </a:ext>
            </a:extLst>
          </p:cNvPr>
          <p:cNvSpPr>
            <a:spLocks noGrp="1"/>
          </p:cNvSpPr>
          <p:nvPr/>
        </p:nvSpPr>
        <p:spPr>
          <a:xfrm>
            <a:off x="1123950" y="297180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Import products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281DD2-656B-4ACA-A5AE-A7DA301538CE}"/>
              </a:ext>
            </a:extLst>
          </p:cNvPr>
          <p:cNvSpPr>
            <a:spLocks noGrp="1"/>
          </p:cNvSpPr>
          <p:nvPr/>
        </p:nvSpPr>
        <p:spPr>
          <a:xfrm>
            <a:off x="1123950" y="322897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Upload an initial Excel catalog and review created, updated, or skipped rows.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4B58493-896C-4CC7-A051-A015C8A909E3}"/>
              </a:ext>
            </a:extLst>
          </p:cNvPr>
          <p:cNvSpPr>
            <a:spLocks noGrp="1"/>
          </p:cNvSpPr>
          <p:nvPr/>
        </p:nvSpPr>
        <p:spPr>
          <a:xfrm>
            <a:off x="666750" y="3829050"/>
            <a:ext cx="323850" cy="323850"/>
          </a:xfrm>
          <a:prstGeom prst="ellipse">
            <a:avLst/>
          </a:prstGeom>
          <a:solidFill>
            <a:srgbClr val="F4B7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99FCCF-2FC1-4BF4-BCB1-7EA3E6BE274D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5A3C5D-D197-42AE-9E70-28E6D33A9D1D}"/>
              </a:ext>
            </a:extLst>
          </p:cNvPr>
          <p:cNvSpPr>
            <a:spLocks noGrp="1"/>
          </p:cNvSpPr>
          <p:nvPr/>
        </p:nvSpPr>
        <p:spPr>
          <a:xfrm>
            <a:off x="1123950" y="381000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Download templates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74DD4A-B587-4642-9214-4CBF4C8A5D0E}"/>
              </a:ext>
            </a:extLst>
          </p:cNvPr>
          <p:cNvSpPr>
            <a:spLocks noGrp="1"/>
          </p:cNvSpPr>
          <p:nvPr/>
        </p:nvSpPr>
        <p:spPr>
          <a:xfrm>
            <a:off x="1123950" y="406717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Use base files for product imports and material calculations.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23A258-C2CF-4D1C-B617-A7EDBAFAAA90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323850" cy="323850"/>
          </a:xfrm>
          <a:prstGeom prst="ellips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86E674-4CCA-4635-9E29-223958D0A700}"/>
              </a:ext>
            </a:extLst>
          </p:cNvPr>
          <p:cNvSpPr>
            <a:spLocks noGrp="1"/>
          </p:cNvSpPr>
          <p:nvPr/>
        </p:nvSpPr>
        <p:spPr>
          <a:xfrm>
            <a:off x="666750" y="47244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E3515D-14B6-46CF-BE4F-CECE27865DB1}"/>
              </a:ext>
            </a:extLst>
          </p:cNvPr>
          <p:cNvSpPr>
            <a:spLocks noGrp="1"/>
          </p:cNvSpPr>
          <p:nvPr/>
        </p:nvSpPr>
        <p:spPr>
          <a:xfrm>
            <a:off x="1123950" y="4648200"/>
            <a:ext cx="3028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Open documents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4853A3-4E74-4AB0-AE95-5474468096EE}"/>
              </a:ext>
            </a:extLst>
          </p:cNvPr>
          <p:cNvSpPr>
            <a:spLocks noGrp="1"/>
          </p:cNvSpPr>
          <p:nvPr/>
        </p:nvSpPr>
        <p:spPr>
          <a:xfrm>
            <a:off x="1123950" y="4905375"/>
            <a:ext cx="3028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74151"/>
                </a:solidFill>
              </a:defRPr>
            </a:pPr>
            <a:r>
              <a:rPr sz="975" b="0">
                <a:solidFill>
                  <a:srgbClr val="374151"/>
                </a:solidFill>
              </a:rPr>
              <a:t>Test the viewer with internal paths or external URLs.</a:t>
            </a:r>
          </a:p>
        </p:txBody>
      </p:sp>
    </p:spTree>
    <p:extLst>
      <p:ext uri="{BB962C8B-B14F-4D97-AF65-F5344CB8AC3E}">
        <p14:creationId xmlns:p14="http://schemas.microsoft.com/office/powerpoint/2010/main" val="219881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4C5CFF-E338-4C92-BBD1-A0F710117A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1C4C07-7C9D-4C97-B5EB-C91CA9E138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3D0912-E961-4FFC-B138-C4F7CB456FF0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666A3E-9FB6-478A-B8D7-E2C513C0D11F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99BB8C-A50A-45AD-9B6D-C3FEF959BD5B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RECOMMENDED 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D56503-B3E2-4B37-95CC-9EAA03B7B873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11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F369AC-ECF3-431C-A4A2-8A2E07840CC8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F60176-A142-48C1-8401-3405BDCA71EC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Daily operating sequence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8BC31-29DB-4FD3-9FEA-A8BEAD8D7047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600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A consistent flow reduces shortages, duplicates, and movements without location.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FA4CC2-C642-476C-9BD0-E55717B339A1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685800" cy="685800"/>
          </a:xfrm>
          <a:prstGeom prst="ellipse">
            <a:avLst/>
          </a:prstGeom>
          <a:solidFill>
            <a:srgbClr val="111111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5BE33C-8584-4CF8-8E76-9F271BAC4E0B}"/>
              </a:ext>
            </a:extLst>
          </p:cNvPr>
          <p:cNvSpPr>
            <a:spLocks noGrp="1"/>
          </p:cNvSpPr>
          <p:nvPr/>
        </p:nvSpPr>
        <p:spPr>
          <a:xfrm>
            <a:off x="704850" y="2447925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08E62BC-D96E-4B5C-915D-EEA0DBF546D5}"/>
              </a:ext>
            </a:extLst>
          </p:cNvPr>
          <p:cNvSpPr>
            <a:spLocks noGrp="1"/>
          </p:cNvSpPr>
          <p:nvPr/>
        </p:nvSpPr>
        <p:spPr>
          <a:xfrm>
            <a:off x="1504950" y="2447925"/>
            <a:ext cx="781050" cy="304800"/>
          </a:xfrm>
          <a:prstGeom prst="rightArrow">
            <a:avLst/>
          </a:prstGeom>
          <a:solidFill>
            <a:srgbClr val="BFD7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02984B-D4C7-47C2-8A07-4AC90B6F5674}"/>
              </a:ext>
            </a:extLst>
          </p:cNvPr>
          <p:cNvSpPr>
            <a:spLocks noGrp="1"/>
          </p:cNvSpPr>
          <p:nvPr/>
        </p:nvSpPr>
        <p:spPr>
          <a:xfrm>
            <a:off x="400050" y="316230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lang="en-US" sz="1200" b="1" dirty="0" err="1">
                <a:solidFill>
                  <a:srgbClr val="111827"/>
                </a:solidFill>
              </a:rPr>
              <a:t>Proyect</a:t>
            </a:r>
            <a:endParaRPr sz="1200" b="1" dirty="0">
              <a:solidFill>
                <a:srgbClr val="111827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59D2B9-6FE9-42A1-90ED-2E2C95C2452F}"/>
              </a:ext>
            </a:extLst>
          </p:cNvPr>
          <p:cNvSpPr>
            <a:spLocks noGrp="1"/>
          </p:cNvSpPr>
          <p:nvPr/>
        </p:nvSpPr>
        <p:spPr>
          <a:xfrm>
            <a:off x="304800" y="3467100"/>
            <a:ext cx="1485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rPr lang="en-US" sz="900" dirty="0"/>
              <a:t>Project creation, material list, dispatch, and tracking</a:t>
            </a:r>
            <a:endParaRPr sz="900" b="0" dirty="0">
              <a:solidFill>
                <a:srgbClr val="37415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16BF674-09CF-46C6-B04B-0D30ABE2C51F}"/>
              </a:ext>
            </a:extLst>
          </p:cNvPr>
          <p:cNvSpPr>
            <a:spLocks noGrp="1"/>
          </p:cNvSpPr>
          <p:nvPr/>
        </p:nvSpPr>
        <p:spPr>
          <a:xfrm>
            <a:off x="2514600" y="2266950"/>
            <a:ext cx="685800" cy="685800"/>
          </a:xfrm>
          <a:prstGeom prst="ellipse">
            <a:avLst/>
          </a:prstGeom>
          <a:solidFill>
            <a:srgbClr val="F4B740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38F1D8-4E74-4C3A-8D2C-7B5E88651BA5}"/>
              </a:ext>
            </a:extLst>
          </p:cNvPr>
          <p:cNvSpPr>
            <a:spLocks noGrp="1"/>
          </p:cNvSpPr>
          <p:nvPr/>
        </p:nvSpPr>
        <p:spPr>
          <a:xfrm>
            <a:off x="2514600" y="2447925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AD63637-B7C1-464E-A2D5-84ACA5A1D8E2}"/>
              </a:ext>
            </a:extLst>
          </p:cNvPr>
          <p:cNvSpPr>
            <a:spLocks noGrp="1"/>
          </p:cNvSpPr>
          <p:nvPr/>
        </p:nvSpPr>
        <p:spPr>
          <a:xfrm>
            <a:off x="3314700" y="2447925"/>
            <a:ext cx="781050" cy="304800"/>
          </a:xfrm>
          <a:prstGeom prst="rightArrow">
            <a:avLst/>
          </a:prstGeom>
          <a:solidFill>
            <a:srgbClr val="BFD7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1E2270-8A40-4E5C-ABCD-5BDD568915C3}"/>
              </a:ext>
            </a:extLst>
          </p:cNvPr>
          <p:cNvSpPr>
            <a:spLocks noGrp="1"/>
          </p:cNvSpPr>
          <p:nvPr/>
        </p:nvSpPr>
        <p:spPr>
          <a:xfrm>
            <a:off x="2209800" y="316230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Purchase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5CD014-3E03-44D0-A808-7CE7B238E23E}"/>
              </a:ext>
            </a:extLst>
          </p:cNvPr>
          <p:cNvSpPr>
            <a:spLocks noGrp="1"/>
          </p:cNvSpPr>
          <p:nvPr/>
        </p:nvSpPr>
        <p:spPr>
          <a:xfrm>
            <a:off x="2114550" y="3467100"/>
            <a:ext cx="1485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rPr sz="900" b="0">
                <a:solidFill>
                  <a:srgbClr val="374151"/>
                </a:solidFill>
              </a:rPr>
              <a:t>Register the supplier order and its materials.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F49B88-1B85-49C6-A020-FDBE98311CB9}"/>
              </a:ext>
            </a:extLst>
          </p:cNvPr>
          <p:cNvSpPr>
            <a:spLocks noGrp="1"/>
          </p:cNvSpPr>
          <p:nvPr/>
        </p:nvSpPr>
        <p:spPr>
          <a:xfrm>
            <a:off x="4324350" y="2266950"/>
            <a:ext cx="685800" cy="685800"/>
          </a:xfrm>
          <a:prstGeom prst="ellipse">
            <a:avLst/>
          </a:prstGeom>
          <a:solidFill>
            <a:srgbClr val="008C72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0C4BB0-E40D-4B8B-8384-2AF8D2AA13AD}"/>
              </a:ext>
            </a:extLst>
          </p:cNvPr>
          <p:cNvSpPr>
            <a:spLocks noGrp="1"/>
          </p:cNvSpPr>
          <p:nvPr/>
        </p:nvSpPr>
        <p:spPr>
          <a:xfrm>
            <a:off x="4324350" y="2447925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97D7DEF-5EFF-4F57-8AC4-3667CA321126}"/>
              </a:ext>
            </a:extLst>
          </p:cNvPr>
          <p:cNvSpPr>
            <a:spLocks noGrp="1"/>
          </p:cNvSpPr>
          <p:nvPr/>
        </p:nvSpPr>
        <p:spPr>
          <a:xfrm>
            <a:off x="5124450" y="2447925"/>
            <a:ext cx="781050" cy="304800"/>
          </a:xfrm>
          <a:prstGeom prst="rightArrow">
            <a:avLst/>
          </a:prstGeom>
          <a:solidFill>
            <a:srgbClr val="BFD7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F4802D-EA81-49B9-9699-5AEA95DE448D}"/>
              </a:ext>
            </a:extLst>
          </p:cNvPr>
          <p:cNvSpPr>
            <a:spLocks noGrp="1"/>
          </p:cNvSpPr>
          <p:nvPr/>
        </p:nvSpPr>
        <p:spPr>
          <a:xfrm>
            <a:off x="4019550" y="316230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Receive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CBF66A-89AA-4D53-86CE-CA465FDAD0EF}"/>
              </a:ext>
            </a:extLst>
          </p:cNvPr>
          <p:cNvSpPr>
            <a:spLocks noGrp="1"/>
          </p:cNvSpPr>
          <p:nvPr/>
        </p:nvSpPr>
        <p:spPr>
          <a:xfrm>
            <a:off x="3924300" y="3467100"/>
            <a:ext cx="1485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rPr sz="900" b="0">
                <a:solidFill>
                  <a:srgbClr val="374151"/>
                </a:solidFill>
              </a:rPr>
              <a:t>Confirm intake and decide the operational destination.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AD89F9B-4705-4573-908A-0DE1F10C19A9}"/>
              </a:ext>
            </a:extLst>
          </p:cNvPr>
          <p:cNvSpPr>
            <a:spLocks noGrp="1"/>
          </p:cNvSpPr>
          <p:nvPr/>
        </p:nvSpPr>
        <p:spPr>
          <a:xfrm>
            <a:off x="6134100" y="2266950"/>
            <a:ext cx="685800" cy="685800"/>
          </a:xfrm>
          <a:prstGeom prst="ellipse">
            <a:avLst/>
          </a:prstGeom>
          <a:solidFill>
            <a:srgbClr val="3BB7D8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FE437F-0C5A-4862-B536-B4FD6E60CBD6}"/>
              </a:ext>
            </a:extLst>
          </p:cNvPr>
          <p:cNvSpPr>
            <a:spLocks noGrp="1"/>
          </p:cNvSpPr>
          <p:nvPr/>
        </p:nvSpPr>
        <p:spPr>
          <a:xfrm>
            <a:off x="6134100" y="2447925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92CA715-E021-4CA1-B5EC-A6C0E7BB4142}"/>
              </a:ext>
            </a:extLst>
          </p:cNvPr>
          <p:cNvSpPr>
            <a:spLocks noGrp="1"/>
          </p:cNvSpPr>
          <p:nvPr/>
        </p:nvSpPr>
        <p:spPr>
          <a:xfrm>
            <a:off x="6934200" y="2447925"/>
            <a:ext cx="781050" cy="304800"/>
          </a:xfrm>
          <a:prstGeom prst="rightArrow">
            <a:avLst/>
          </a:prstGeom>
          <a:solidFill>
            <a:srgbClr val="BFD7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375E95-78D5-4DC8-9E2E-772F835812D4}"/>
              </a:ext>
            </a:extLst>
          </p:cNvPr>
          <p:cNvSpPr>
            <a:spLocks noGrp="1"/>
          </p:cNvSpPr>
          <p:nvPr/>
        </p:nvSpPr>
        <p:spPr>
          <a:xfrm>
            <a:off x="5829300" y="316230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Place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673FCB-BE36-46D3-99EF-A59AE4880C37}"/>
              </a:ext>
            </a:extLst>
          </p:cNvPr>
          <p:cNvSpPr>
            <a:spLocks noGrp="1"/>
          </p:cNvSpPr>
          <p:nvPr/>
        </p:nvSpPr>
        <p:spPr>
          <a:xfrm>
            <a:off x="5734050" y="3467100"/>
            <a:ext cx="1485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rPr sz="900" b="0">
                <a:solidFill>
                  <a:srgbClr val="374151"/>
                </a:solidFill>
              </a:rPr>
              <a:t>Locate stock in rack and shelf.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A94EAB5-B167-4817-8473-520259EAB6B5}"/>
              </a:ext>
            </a:extLst>
          </p:cNvPr>
          <p:cNvSpPr>
            <a:spLocks noGrp="1"/>
          </p:cNvSpPr>
          <p:nvPr/>
        </p:nvSpPr>
        <p:spPr>
          <a:xfrm>
            <a:off x="7943850" y="2266950"/>
            <a:ext cx="685800" cy="685800"/>
          </a:xfrm>
          <a:prstGeom prst="ellipse">
            <a:avLst/>
          </a:prstGeom>
          <a:solidFill>
            <a:srgbClr val="F36B7F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FB311E-5291-419C-9EB2-C11A9C258F8B}"/>
              </a:ext>
            </a:extLst>
          </p:cNvPr>
          <p:cNvSpPr>
            <a:spLocks noGrp="1"/>
          </p:cNvSpPr>
          <p:nvPr/>
        </p:nvSpPr>
        <p:spPr>
          <a:xfrm>
            <a:off x="7943850" y="2447925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7BF19ED1-23AB-470C-80A8-C3B357247B61}"/>
              </a:ext>
            </a:extLst>
          </p:cNvPr>
          <p:cNvSpPr>
            <a:spLocks noGrp="1"/>
          </p:cNvSpPr>
          <p:nvPr/>
        </p:nvSpPr>
        <p:spPr>
          <a:xfrm>
            <a:off x="8743950" y="2447925"/>
            <a:ext cx="781050" cy="304800"/>
          </a:xfrm>
          <a:prstGeom prst="rightArrow">
            <a:avLst/>
          </a:prstGeom>
          <a:solidFill>
            <a:srgbClr val="BFD7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B19B25-48BA-4243-9C90-B580F5F4FEE4}"/>
              </a:ext>
            </a:extLst>
          </p:cNvPr>
          <p:cNvSpPr>
            <a:spLocks noGrp="1"/>
          </p:cNvSpPr>
          <p:nvPr/>
        </p:nvSpPr>
        <p:spPr>
          <a:xfrm>
            <a:off x="7639050" y="316230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Dispatch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781E88-3256-4908-8962-BEB916BDD564}"/>
              </a:ext>
            </a:extLst>
          </p:cNvPr>
          <p:cNvSpPr>
            <a:spLocks noGrp="1"/>
          </p:cNvSpPr>
          <p:nvPr/>
        </p:nvSpPr>
        <p:spPr>
          <a:xfrm>
            <a:off x="7543800" y="3467100"/>
            <a:ext cx="1485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rPr sz="900" b="0">
                <a:solidFill>
                  <a:srgbClr val="374151"/>
                </a:solidFill>
              </a:rPr>
              <a:t>Deliver material to project and measure progress.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E45D2A-2CE5-4BAA-AE97-C7F016E3DD32}"/>
              </a:ext>
            </a:extLst>
          </p:cNvPr>
          <p:cNvSpPr>
            <a:spLocks noGrp="1"/>
          </p:cNvSpPr>
          <p:nvPr/>
        </p:nvSpPr>
        <p:spPr>
          <a:xfrm>
            <a:off x="9753600" y="2266950"/>
            <a:ext cx="685800" cy="685800"/>
          </a:xfrm>
          <a:prstGeom prst="ellipse">
            <a:avLst/>
          </a:prstGeom>
          <a:solidFill>
            <a:srgbClr val="005E54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61E654-769C-4C78-B0F5-97E65AF2F7A2}"/>
              </a:ext>
            </a:extLst>
          </p:cNvPr>
          <p:cNvSpPr>
            <a:spLocks noGrp="1"/>
          </p:cNvSpPr>
          <p:nvPr/>
        </p:nvSpPr>
        <p:spPr>
          <a:xfrm>
            <a:off x="9753600" y="2447925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EBFE5C4-8618-4043-A137-FEB933804D30}"/>
              </a:ext>
            </a:extLst>
          </p:cNvPr>
          <p:cNvSpPr>
            <a:spLocks noGrp="1"/>
          </p:cNvSpPr>
          <p:nvPr/>
        </p:nvSpPr>
        <p:spPr>
          <a:xfrm>
            <a:off x="9448800" y="316230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Report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0BB3CA-AC21-45C5-A1D9-DB3E1FEDF0DA}"/>
              </a:ext>
            </a:extLst>
          </p:cNvPr>
          <p:cNvSpPr>
            <a:spLocks noGrp="1"/>
          </p:cNvSpPr>
          <p:nvPr/>
        </p:nvSpPr>
        <p:spPr>
          <a:xfrm>
            <a:off x="9353550" y="3467100"/>
            <a:ext cx="1485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rPr sz="900" b="0">
                <a:solidFill>
                  <a:srgbClr val="374151"/>
                </a:solidFill>
              </a:rPr>
              <a:t>Review KPIs, risks, and usage.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EF932D2-98A3-4442-A518-EDF55D60B577}"/>
              </a:ext>
            </a:extLst>
          </p:cNvPr>
          <p:cNvSpPr>
            <a:spLocks noGrp="1"/>
          </p:cNvSpPr>
          <p:nvPr/>
        </p:nvSpPr>
        <p:spPr>
          <a:xfrm>
            <a:off x="819150" y="472440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749C2E8-2108-406E-BC66-38B46B45E7F6}"/>
              </a:ext>
            </a:extLst>
          </p:cNvPr>
          <p:cNvSpPr>
            <a:spLocks noGrp="1"/>
          </p:cNvSpPr>
          <p:nvPr/>
        </p:nvSpPr>
        <p:spPr>
          <a:xfrm>
            <a:off x="742950" y="46291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83055" y="4743450"/>
            <a:ext cx="1463040" cy="9144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F12064C4-A4E4-4FA6-98C7-22D83179D2C0}"/>
              </a:ext>
            </a:extLst>
          </p:cNvPr>
          <p:cNvSpPr>
            <a:spLocks noGrp="1"/>
          </p:cNvSpPr>
          <p:nvPr/>
        </p:nvSpPr>
        <p:spPr>
          <a:xfrm>
            <a:off x="895350" y="5695950"/>
            <a:ext cx="2838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Projects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E95945C-BE70-4AA0-A62C-A63AC5B234F1}"/>
              </a:ext>
            </a:extLst>
          </p:cNvPr>
          <p:cNvSpPr>
            <a:spLocks noGrp="1"/>
          </p:cNvSpPr>
          <p:nvPr/>
        </p:nvSpPr>
        <p:spPr>
          <a:xfrm>
            <a:off x="4600575" y="472440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26D4EA1-E053-432F-8E96-6ED08E7010F3}"/>
              </a:ext>
            </a:extLst>
          </p:cNvPr>
          <p:cNvSpPr>
            <a:spLocks noGrp="1"/>
          </p:cNvSpPr>
          <p:nvPr/>
        </p:nvSpPr>
        <p:spPr>
          <a:xfrm>
            <a:off x="4524375" y="46291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64480" y="4743450"/>
            <a:ext cx="1463040" cy="914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7135CDE5-76FB-45B0-8B27-D149A70AE6A7}"/>
              </a:ext>
            </a:extLst>
          </p:cNvPr>
          <p:cNvSpPr>
            <a:spLocks noGrp="1"/>
          </p:cNvSpPr>
          <p:nvPr/>
        </p:nvSpPr>
        <p:spPr>
          <a:xfrm>
            <a:off x="4676775" y="5695950"/>
            <a:ext cx="2838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Receiving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9C14C0A-2FB3-44DE-8F70-E8B10D9EF91A}"/>
              </a:ext>
            </a:extLst>
          </p:cNvPr>
          <p:cNvSpPr>
            <a:spLocks noGrp="1"/>
          </p:cNvSpPr>
          <p:nvPr/>
        </p:nvSpPr>
        <p:spPr>
          <a:xfrm>
            <a:off x="8382000" y="472440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000000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1CA13C6-C3C5-45C7-AC31-5406AE5B8654}"/>
              </a:ext>
            </a:extLst>
          </p:cNvPr>
          <p:cNvSpPr>
            <a:spLocks noGrp="1"/>
          </p:cNvSpPr>
          <p:nvPr/>
        </p:nvSpPr>
        <p:spPr>
          <a:xfrm>
            <a:off x="8305800" y="46291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478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145905" y="4743450"/>
            <a:ext cx="1463040" cy="9144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AD4BD76-234D-4F45-A6FD-EE608B0AF210}"/>
              </a:ext>
            </a:extLst>
          </p:cNvPr>
          <p:cNvSpPr>
            <a:spLocks noGrp="1"/>
          </p:cNvSpPr>
          <p:nvPr/>
        </p:nvSpPr>
        <p:spPr>
          <a:xfrm>
            <a:off x="8458200" y="5695950"/>
            <a:ext cx="2838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517441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4F75C242-6B45-4D79-B5CF-D429FACE73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ED7CFD-5022-4910-9535-0200794249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1F99C-4B56-4FAB-B140-2E2C295491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72C52E-542B-4E4B-9B76-2DEBB99F39E6}"/>
              </a:ext>
            </a:extLst>
          </p:cNvPr>
          <p:cNvSpPr>
            <a:spLocks noGrp="1"/>
          </p:cNvSpPr>
          <p:nvPr/>
        </p:nvSpPr>
        <p:spPr>
          <a:xfrm>
            <a:off x="0" y="5867400"/>
            <a:ext cx="12192000" cy="990600"/>
          </a:xfrm>
          <a:prstGeom prst="rect">
            <a:avLst/>
          </a:prstGeom>
          <a:solidFill>
            <a:srgbClr val="EEF6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99345-715F-40CD-9E31-3FAA30093D6F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RMC INVENTORY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A1DB65-9A7D-4E15-8BF0-0E87AF42C937}"/>
              </a:ext>
            </a:extLst>
          </p:cNvPr>
          <p:cNvSpPr>
            <a:spLocks noGrp="1"/>
          </p:cNvSpPr>
          <p:nvPr/>
        </p:nvSpPr>
        <p:spPr>
          <a:xfrm>
            <a:off x="5048250" y="266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BEST PRACTICES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1275BD-6ECA-4904-B023-32324A995E79}"/>
              </a:ext>
            </a:extLst>
          </p:cNvPr>
          <p:cNvSpPr>
            <a:spLocks noGrp="1"/>
          </p:cNvSpPr>
          <p:nvPr/>
        </p:nvSpPr>
        <p:spPr>
          <a:xfrm>
            <a:off x="10477500" y="266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005E54"/>
                </a:solidFill>
              </a:defRPr>
            </a:pPr>
            <a:r>
              <a:rPr sz="825" b="1">
                <a:solidFill>
                  <a:srgbClr val="005E54"/>
                </a:solidFill>
              </a:rPr>
              <a:t>12 / 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148117-DD5E-4CCA-875F-998F01815EBB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11125200" cy="14288"/>
          </a:xfrm>
          <a:prstGeom prst="rect">
            <a:avLst/>
          </a:prstGeom>
          <a:solidFill>
            <a:srgbClr val="D8E4D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9C7100-5269-4470-AA75-03190678180C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Quality operating criteria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85AE63-8803-4D7D-817A-22A23533972C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600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These rules keep inventory reliable and make every project easier to track.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0B75CE-F9C4-4B75-8501-FCC7248F08EC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47625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F4EDBB-06E6-48F1-B5B7-C964680AD019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57150" cy="895350"/>
          </a:xfrm>
          <a:prstGeom prst="rect">
            <a:avLst/>
          </a:prstGeom>
          <a:solidFill>
            <a:srgbClr val="008C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3F8DE5-C4B7-4DF3-ADA6-7ECE4CBB368E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Unique codes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6C04E1-6019-4461-89BD-0DB43982DA6C}"/>
              </a:ext>
            </a:extLst>
          </p:cNvPr>
          <p:cNvSpPr>
            <a:spLocks noGrp="1"/>
          </p:cNvSpPr>
          <p:nvPr/>
        </p:nvSpPr>
        <p:spPr>
          <a:xfrm>
            <a:off x="933450" y="2647950"/>
            <a:ext cx="438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Do not create duplicate products. Search before registering new materials.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19DF05-22F6-40BF-B37C-7AE554B2466B}"/>
              </a:ext>
            </a:extLst>
          </p:cNvPr>
          <p:cNvSpPr>
            <a:spLocks noGrp="1"/>
          </p:cNvSpPr>
          <p:nvPr/>
        </p:nvSpPr>
        <p:spPr>
          <a:xfrm>
            <a:off x="6057900" y="2133600"/>
            <a:ext cx="47625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E09A3A-5A66-4E7E-8D80-C2F9AC86FB6A}"/>
              </a:ext>
            </a:extLst>
          </p:cNvPr>
          <p:cNvSpPr>
            <a:spLocks noGrp="1"/>
          </p:cNvSpPr>
          <p:nvPr/>
        </p:nvSpPr>
        <p:spPr>
          <a:xfrm>
            <a:off x="6057900" y="2133600"/>
            <a:ext cx="57150" cy="895350"/>
          </a:xfrm>
          <a:prstGeom prst="rect">
            <a:avLst/>
          </a:prstGeom>
          <a:solidFill>
            <a:srgbClr val="3BB7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B8D897-A3DA-4F17-9FD7-4CC70DD78A50}"/>
              </a:ext>
            </a:extLst>
          </p:cNvPr>
          <p:cNvSpPr>
            <a:spLocks noGrp="1"/>
          </p:cNvSpPr>
          <p:nvPr/>
        </p:nvSpPr>
        <p:spPr>
          <a:xfrm>
            <a:off x="6267450" y="232410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Required location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83098C-BE61-419B-896F-CB8BFF20B317}"/>
              </a:ext>
            </a:extLst>
          </p:cNvPr>
          <p:cNvSpPr>
            <a:spLocks noGrp="1"/>
          </p:cNvSpPr>
          <p:nvPr/>
        </p:nvSpPr>
        <p:spPr>
          <a:xfrm>
            <a:off x="6267450" y="2647950"/>
            <a:ext cx="438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Every received material must be placed on a shelf or dispatched to a project.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A28891A-70D0-4108-9153-9271FC12130D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47625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019827-A116-4F79-8BAE-5FD31C777E44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57150" cy="895350"/>
          </a:xfrm>
          <a:prstGeom prst="rect">
            <a:avLst/>
          </a:prstGeom>
          <a:solidFill>
            <a:srgbClr val="F4B7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A845A0-3F5B-4B63-9504-03BA706FFE2C}"/>
              </a:ext>
            </a:extLst>
          </p:cNvPr>
          <p:cNvSpPr>
            <a:spLocks noGrp="1"/>
          </p:cNvSpPr>
          <p:nvPr/>
        </p:nvSpPr>
        <p:spPr>
          <a:xfrm>
            <a:off x="933450" y="348615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Updated statuses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0042C4-7AFB-4A3C-8D4C-F803FF544ABE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38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Keep purchases, projects, and tasks aligned with the real operation.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C1DF61C-8B57-470E-AD42-1CC8084D5DF2}"/>
              </a:ext>
            </a:extLst>
          </p:cNvPr>
          <p:cNvSpPr>
            <a:spLocks noGrp="1"/>
          </p:cNvSpPr>
          <p:nvPr/>
        </p:nvSpPr>
        <p:spPr>
          <a:xfrm>
            <a:off x="6057900" y="3295650"/>
            <a:ext cx="47625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80E747-740A-4D87-81BB-788FBBAE451E}"/>
              </a:ext>
            </a:extLst>
          </p:cNvPr>
          <p:cNvSpPr>
            <a:spLocks noGrp="1"/>
          </p:cNvSpPr>
          <p:nvPr/>
        </p:nvSpPr>
        <p:spPr>
          <a:xfrm>
            <a:off x="6057900" y="3295650"/>
            <a:ext cx="57150" cy="895350"/>
          </a:xfrm>
          <a:prstGeom prst="rect">
            <a:avLst/>
          </a:prstGeom>
          <a:solidFill>
            <a:srgbClr val="F36B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CCAFE6-D2C8-4B80-B523-A51183E41C35}"/>
              </a:ext>
            </a:extLst>
          </p:cNvPr>
          <p:cNvSpPr>
            <a:spLocks noGrp="1"/>
          </p:cNvSpPr>
          <p:nvPr/>
        </p:nvSpPr>
        <p:spPr>
          <a:xfrm>
            <a:off x="6267450" y="348615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Attached documents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173A3C-2896-4719-A2A3-6E6271EB99D0}"/>
              </a:ext>
            </a:extLst>
          </p:cNvPr>
          <p:cNvSpPr>
            <a:spLocks noGrp="1"/>
          </p:cNvSpPr>
          <p:nvPr/>
        </p:nvSpPr>
        <p:spPr>
          <a:xfrm>
            <a:off x="6267450" y="3810000"/>
            <a:ext cx="438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Store invoices, plans, or support files in purchases and projects when needed.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DC0612F-DA4B-4801-A3F7-8696D3A5A596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47625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C6B31A-5052-49E9-9991-1E0C2A9458AD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57150" cy="895350"/>
          </a:xfrm>
          <a:prstGeom prst="rect">
            <a:avLst/>
          </a:prstGeom>
          <a:solidFill>
            <a:srgbClr val="005E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F7A970-2C7E-4E6A-A127-EBB53C2244B3}"/>
              </a:ext>
            </a:extLst>
          </p:cNvPr>
          <p:cNvSpPr>
            <a:spLocks noGrp="1"/>
          </p:cNvSpPr>
          <p:nvPr/>
        </p:nvSpPr>
        <p:spPr>
          <a:xfrm>
            <a:off x="933450" y="464820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Periodic reports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656B1-8EC0-48C1-B46C-1813C05BF892}"/>
              </a:ext>
            </a:extLst>
          </p:cNvPr>
          <p:cNvSpPr>
            <a:spLocks noGrp="1"/>
          </p:cNvSpPr>
          <p:nvPr/>
        </p:nvSpPr>
        <p:spPr>
          <a:xfrm>
            <a:off x="933450" y="4972050"/>
            <a:ext cx="438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Review low stock, pending purchases, and risks at the start of each workday.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00815DF-F322-4755-96F6-EB985F330D1B}"/>
              </a:ext>
            </a:extLst>
          </p:cNvPr>
          <p:cNvSpPr>
            <a:spLocks noGrp="1"/>
          </p:cNvSpPr>
          <p:nvPr/>
        </p:nvSpPr>
        <p:spPr>
          <a:xfrm>
            <a:off x="6057900" y="4457700"/>
            <a:ext cx="47625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00D7F21-E7FB-4F3C-97DC-E045C30F24CE}"/>
              </a:ext>
            </a:extLst>
          </p:cNvPr>
          <p:cNvSpPr>
            <a:spLocks noGrp="1"/>
          </p:cNvSpPr>
          <p:nvPr/>
        </p:nvSpPr>
        <p:spPr>
          <a:xfrm>
            <a:off x="6057900" y="4457700"/>
            <a:ext cx="57150" cy="8953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FA183B-4856-448A-AA78-DF4012F38683}"/>
              </a:ext>
            </a:extLst>
          </p:cNvPr>
          <p:cNvSpPr>
            <a:spLocks noGrp="1"/>
          </p:cNvSpPr>
          <p:nvPr/>
        </p:nvSpPr>
        <p:spPr>
          <a:xfrm>
            <a:off x="6267450" y="464820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Backup before cleanup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BCB9F3-BA1D-4DD7-8FE1-CFFB54A60943}"/>
              </a:ext>
            </a:extLst>
          </p:cNvPr>
          <p:cNvSpPr>
            <a:spLocks noGrp="1"/>
          </p:cNvSpPr>
          <p:nvPr/>
        </p:nvSpPr>
        <p:spPr>
          <a:xfrm>
            <a:off x="6267450" y="4972050"/>
            <a:ext cx="438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374151"/>
                </a:solidFill>
              </a:defRPr>
            </a:pPr>
            <a:r>
              <a:rPr sz="938" b="0">
                <a:solidFill>
                  <a:srgbClr val="374151"/>
                </a:solidFill>
              </a:rPr>
              <a:t>Use database cleanup only in test environments or with a confirmed backup.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E9C0493-1D56-4E30-81E4-1D51302E6514}"/>
              </a:ext>
            </a:extLst>
          </p:cNvPr>
          <p:cNvSpPr>
            <a:spLocks noGrp="1"/>
          </p:cNvSpPr>
          <p:nvPr/>
        </p:nvSpPr>
        <p:spPr>
          <a:xfrm>
            <a:off x="2247900" y="5962650"/>
            <a:ext cx="7696200" cy="400050"/>
          </a:xfrm>
          <a:prstGeom prst="roundRect">
            <a:avLst>
              <a:gd name="adj" fmla="val 19048"/>
            </a:avLst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44052B-D5A2-4DDE-8BC3-F95CDDBFE7ED}"/>
              </a:ext>
            </a:extLst>
          </p:cNvPr>
          <p:cNvSpPr>
            <a:spLocks noGrp="1"/>
          </p:cNvSpPr>
          <p:nvPr/>
        </p:nvSpPr>
        <p:spPr>
          <a:xfrm>
            <a:off x="2457450" y="6076950"/>
            <a:ext cx="7277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RMC Inventory: traceable inventory, controlled purchases, and visible project materials.</a:t>
            </a:r>
          </a:p>
        </p:txBody>
      </p:sp>
    </p:spTree>
    <p:extLst>
      <p:ext uri="{BB962C8B-B14F-4D97-AF65-F5344CB8AC3E}">
        <p14:creationId xmlns:p14="http://schemas.microsoft.com/office/powerpoint/2010/main" val="21405506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1481</Words>
  <Application>Microsoft Office PowerPoint</Application>
  <DocSecurity>0</DocSecurity>
  <PresentationFormat>Widescreen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Supply Replace My Cage</cp:lastModifiedBy>
  <cp:revision>1</cp:revision>
  <dcterms:created xsi:type="dcterms:W3CDTF">2026-04-23T14:13:56Z</dcterms:created>
  <dcterms:modified xsi:type="dcterms:W3CDTF">2026-04-23T14:19:22Z</dcterms:modified>
</cp:coreProperties>
</file>